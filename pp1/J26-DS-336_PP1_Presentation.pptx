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am introduction" id="{ab4596a5-cac0-c6db-5772-9db537f7bd2c}">
          <p14:sldIdLst>
            <p14:sldId id="256"/>
            <p14:sldId id="257"/>
            <p14:sldId id="258"/>
          </p14:sldIdLst>
        </p14:section>
        <p14:section name="J.K.B. Ekanayake" id="{a9c84e6b-0889-593a-4bc6-1d954d26a324}">
          <p14:sldIdLst>
            <p14:sldId id="259"/>
            <p14:sldId id="260"/>
            <p14:sldId id="261"/>
          </p14:sldIdLst>
        </p14:section>
        <p14:section name="W.A.T. Wathsala" id="{3a8f5e95-a207-0148-26db-842fd12a8ee3}">
          <p14:sldIdLst>
            <p14:sldId id="262"/>
            <p14:sldId id="263"/>
            <p14:sldId id="264"/>
          </p14:sldIdLst>
        </p14:section>
        <p14:section name="K.G.Y.V. Thathsarani" id="{c04afbb4-cebb-d2b7-68fd-b7899f769225}">
          <p14:sldIdLst>
            <p14:sldId id="265"/>
            <p14:sldId id="266"/>
            <p14:sldId id="267"/>
          </p14:sldIdLst>
        </p14:section>
        <p14:section name="K.M.I.N. Karunanayake" id="{118a87e8-5a1a-480a-bafd-10dcc91d4745}">
          <p14:sldIdLst>
            <p14:sldId id="268"/>
            <p14:sldId id="269"/>
            <p14:sldId id="270"/>
          </p14:sldIdLst>
        </p14:section>
        <p14:section name="Commercialization" id="{4a7da965-2161-b2e3-588a-09397905f23b}">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0:35]
Good morning. We are group J26-DS-336: Distributed Multi-Agent SLM Framework for Privacy-Preserving Enterprise Data Intelligence. I'm [name], with Janiru Ekanayake, Tharushi Wathsala, Yuwani Thathsarani and Inushki Karunanayake. The panel gave us four comments at the proposal.
Row 1, No proper component breakdown: we now have four agents with one owner each. Every agent has a fixed input and output, and the app shows each agent's step separately.
Row 2, Novelty and why a small model: companies with sensitive data can't send it to cloud AI and have only one GPU, so only a small model can be deployed. We measured where small models fail, and each agent fixes one of those failures.
Row 3, Practical usage: a staff member types a question in a chat page and gets the answer, the SQL and every step from their own database, and can save it to a dashboard.
Row 4, Standalone application: Agent 1 now runs on its own as a web page, an API and a command-line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0:40, then the 2:00 video]
The problem: 27 percent of organisations have banned generative AI over privacy, and 48 percent admit putting company data into it anyway. A local small model avoids this, but a full database confuses it: 35 percent correct with three tables shown, 71 percent with only the right one.
Who has this problem: mid-size companies with sensitive data and no data team, like finance companies, microfinance companies and smaller insurers, and their staff who can't write SQL. In Sri Lanka, the Personal Data Protection Act makes sending customer data out a legal risk.
Our design uses four small agents, each fixing one measured weakness. It runs on one GPU, nothing leaves the company, and every answer shows its SQL and each step.
Here is our two-minute video. [Click "Watch on YouTube", play full screen, don't talk over it, then return to the slides.]
Sources: Cisco 2024 Data Privacy Benchmark Study (2,600 professionals); Sri Lanka PDPA No. 9 of 2022; our test on 33 simple questions with phi3 (3.8B).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0:15]
Follow the numbers. The question goes to the harness. Agent 1 prunes the schema and labels it. Agent 2's gate passes or declines it. Agent 3 writes the SQL. Agent 4 runs it read-only, and on an error sends a hint back, up to three times. The answer, SQL and trace come back. Janiru.
Template note: diagrams must not be made with AI image tools. Redraw this one in draw.io if it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[Ekanayake, 0:10]
Thank you. I'm J.K.B. Ekanayake, IT23199262, Data Science. My component is Complexity-Adaptive Column-Level Schema Pruning for Small Language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[Ekanayake, 0:55]
Left box: my sub-problem is that a small model gets confused when it sees the whole database: 35 percent correct with three tables, 71 percent with only the right one. My prototype fixes this in five steps. Classify the question as simple, single-join, multi-join or totals. Find the top three starting tables. Add the tables needed to join them. Keep only the needed columns, with value hints, so "Canada" points to Customer.Country. Size the schema to the question and pass it, with the label, to Agent 3.
Right box: it reads any connected database automatically, labels each question's complexity for Agent 3, answers in 0.28 seconds against a 0.5-second target, handles twenty-plus tables and missing foreign keys, explains why each column was kept, and runs standalone.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[Ekanayake, 0:55]
Reading the table from the top: 95 to 99 percent of needed columns are still kept, with prompts 16 to 24 percent smaller. The three starred rows are real gains, very unlikely to be chance: question type labelled correctly, 59 to 68 percent; correct SQL on coded columns with value hints, 12 to 56 percent; and correct SQL when the schema fits the question, 44 to 52 percent. As the note says, pruning alone keeps accuracy the same with smaller prompts, and 66 automated tests pass.
User feedback: [fill: who tried it, which task, what they struggled with, what you changed].
Over to Tharushi for Agent 2.
(p-values: labels .029, value hints .016, schema size .003.)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[Wathsala, 0:10]
Thank you. I'm W.A.T. Wathsala, IT23282704, Data Science. My component is a Knowledge-Distilled Small Foundation Model and Question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[Wathsala, 0:55]
Left box: my sub-problem is that small models are weak at harder judgements. Can a large teacher make a same-size small model better? Teacher: a 7-billion-parameter Qwen, fine-tuned on the tasks first. Training data: 4,000 database-or-general questions and 436 attack-or-safe prompts. Student: a 1.5B Qwen that learns from the teacher. Control: the same 1.5B model trained without the teacher. Live: my student is the app's question gate, working with Agent 1's word check.
Right box: done are teacher-generated training data, a same-size model for a fair comparison, and a model the app loads. The gate declines off-topic questions before any SQL: on 224 real questions it wrongly declined none, in about 0.2 seconds each. Still planned: the attack check in the app, and the distilled SQL base for Agent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[Wathsala, 0:55]
The table compares the model without and with the teacher. First row, is it a database question: 98.8 versus 99.4 percent, no real gain, because both are near 100. Second row, is it an attack prompt: 83.6 versus 94.8 percent, 11 points better with the teacher, and p equals 0.004, so very unlikely to be chance. Distillation helps where the task is hard.
User feedback: [fill].
Over to Yuwani for Agent 3.
(McNemar test on paired predictions. 94.8% comes from scoring the two labels, which is how the app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[Thathsarani, 0:10]
Thank you. I'm K.G.Y.V. Thathsarani, IT23404250, Data Science. My component is Complexity-Routed HydraLoRA versus Standard LoRA for SQL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[Thathsarani, 0:55]
Left box: my sub-problem is that one shared adapter must learn simple lookups and multi-table joins alike. Base: Qwen 1.5B, replaced by Agent 2's distilled base when it exists. Data: Spider training questions labelled by complexity. Standard LoRA: one shared adapter, the control. HydraLoRA: one shared part plus a separate head for each complexity type. Live: Agent 1's label chooses the head, and on a retry I use Agent 4's error hint.
Right box: done are LoRA and HydraLoRA on the same base, data and budget; routing by the shared classifier; accuracy reported per complexity with statistics; and the winner, LoRA, and runner-up, HydraLoRA, packaged for Agent 4. Still planned: head selection inside the live app. Today a stand-in model writes the SQL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[Thathsarani, 0:55]
The table shows correct SQL out of 128 questions. The base model with no training: 41 percent. LoRA: 55 percent, a real gain. HydraLoRA with perfect labels: 52 percent, the same as LoRA. HydraLoRA with live labels: 39 percent. As the note says, LoRA lifts one-join questions from 29 to 68 percent, multi-join stays near 16 for all, and every 10 points of routing error costs about 3 points of accuracy.
User feedback: [fill].
Over to Inushki for Agent 4.
(LoRA vs base p = .012; HydraLoRA vs LoRA not significant. Next: parameter-matched LoRA.)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[Karunanayake, 0:10]
Thank you. I'm K.M.I.N. Karunanayake, IT23179912, Data Science. My component is SQL-Sensitive Mixed-Precision Quantization and Safe Query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[Karunanayake, 0:55]
Left box: my sub-problem is that the model must shrink to fit a small GPU, but shrinking every layer to 4-bit breaks SQL names, from 59 to 51 percent correct. Sensitivity: I set each of the 28 layers to 4-bit on its own and measured the accuracy drop. Allocation: the six most sensitive layers stay 8-bit, the other 22 become 4-bit. Build the mixed model and compare it with full size, all 8-bit and all 4-bit. Live: a safety check, read-only execution, and an error hint back to Agent 3. This replaced my original QAT versus PTQ plan, agreed with the team.
Right box: it fits a mid-range GPU, 1.29 instead of 2.97 gigabytes; accuracy, memory and speed are reported per setting; only safe SQL runs; the retry stops after three attempts; and it writes the SQL in our app today. Still planned: separate test questions and comparison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[Karunanayake, 0:55]
The table shows correct SQL out of 100 questions and the memory used. Full size: 59 percent, 2.97 gigabytes. All 8-bit: 61 percent, 1.74. All 4-bit: 51 percent, 1.2. My mixed model: 64 percent in 1.29 gigabytes. But as the note says, that 64 is on only 25 questions, the same ones used to choose the layers, so it's not proven better yet.
User feedback: [fill].
Back to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0:40]
Customer persona: our customer is a mid-size company with sensitive data and no data team. The users are operations managers, credit and risk officers and compliance staff, who can't write SQL and have no BI team to ask.
Market size: in Sri Lanka first, 32 licensed finance companies and 4 microfinance companies, plus the smaller of 29 insurers. Then the same segment across South Asia.
What is unique: it runs fully on the company's own hardware, so no data goes to an AI vendor; one mid-range GPU replaces a data team or cloud contract; and every answer shows its SQL and steps so it can be checked.
Cost recovery: a licensed on-premise appliance with a yearly support contract, and a privately hosted tier for smaller firms. Because the models are open-weight, there are no per-question fees.
Thank you. We'll now show the demonstration.
(Sources: CBSL list of licensed finance companies as at 31.12.2025; CBSL Annual Economic Review 2024. If asked why not big banks: they already have BI teams and budgets.)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EAM">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64240" cy="8686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Distributed Multi-Agent SLM Framework for Privacy-Preserving Enterprise Data Intelligence</a:t>
            </a:r>
            <a:endParaRPr lang="en-US" sz="2800" dirty="0"/>
          </a:p>
        </p:txBody>
      </p:sp>
      <p:pic>
        <p:nvPicPr>
          <p:cNvPr id="3" name="Image 0" descr="/tmp/claude-0/-home-claude/fdadab9e-3585-5bce-b57d-e94aae0d9dfd/scratchpad/pptx/logo.png">    </p:cNvPr>
          <p:cNvPicPr>
            <a:picLocks noChangeAspect="1"/>
          </p:cNvPicPr>
          <p:nvPr/>
        </p:nvPicPr>
        <p:blipFill>
          <a:blip r:embed="rId1"/>
          <a:stretch>
            <a:fillRect/>
          </a:stretch>
        </p:blipFill>
        <p:spPr>
          <a:xfrm>
            <a:off x="320040" y="6291072"/>
            <a:ext cx="2011680" cy="393192"/>
          </a:xfrm>
          <a:prstGeom prst="rect">
            <a:avLst/>
          </a:prstGeom>
        </p:spPr>
      </p:pic>
      <p:sp>
        <p:nvSpPr>
          <p:cNvPr id="4" name="Text 1"/>
          <p:cNvSpPr/>
          <p:nvPr/>
        </p:nvSpPr>
        <p:spPr>
          <a:xfrm>
            <a:off x="2560320" y="6309360"/>
            <a:ext cx="7040880" cy="365760"/>
          </a:xfrm>
          <a:prstGeom prst="rect">
            <a:avLst/>
          </a:prstGeom>
          <a:noFill/>
          <a:ln/>
        </p:spPr>
        <p:txBody>
          <a:bodyPr wrap="square" lIns="0" tIns="0" rIns="0" bIns="0" rtlCol="0" anchor="ctr"/>
          <a:lstStyle/>
          <a:p>
            <a:pPr algn="ctr" indent="0" marL="0">
              <a:buNone/>
            </a:pPr>
            <a:r>
              <a:rPr lang="en-US" sz="1400" dirty="0">
                <a:solidFill>
                  <a:schemeClr val="tx1"/>
                </a:solidFill>
              </a:rPr>
              <a:t>J26-DS-336 · Progress Presentation 1</a:t>
            </a:r>
            <a:endParaRPr lang="en-US" sz="1400" dirty="0"/>
          </a:p>
        </p:txBody>
      </p:sp>
      <p:sp>
        <p:nvSpPr>
          <p:cNvPr id="5" name="Text 2"/>
          <p:cNvSpPr/>
          <p:nvPr/>
        </p:nvSpPr>
        <p:spPr>
          <a:xfrm>
            <a:off x="9692640" y="6309360"/>
            <a:ext cx="1463040" cy="365760"/>
          </a:xfrm>
          <a:prstGeom prst="rect">
            <a:avLst/>
          </a:prstGeom>
          <a:noFill/>
          <a:ln/>
        </p:spPr>
        <p:txBody>
          <a:bodyPr wrap="square" lIns="0" tIns="0" rIns="0" bIns="0" rtlCol="0" anchor="ctr"/>
          <a:lstStyle/>
          <a:p>
            <a:pPr algn="r" indent="0" marL="0">
              <a:buNone/>
            </a:pPr>
            <a:r>
              <a:rPr lang="en-US" sz="1200" dirty="0">
                <a:solidFill>
                  <a:schemeClr val="accent5"/>
                </a:solidFill>
              </a:rPr>
              <a:t>[date]</a:t>
            </a:r>
            <a:endParaRPr lang="en-US" sz="1200" dirty="0"/>
          </a:p>
        </p:txBody>
      </p:sp>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EMBER_a1">
    <p:bg>
      <p:bgPr>
        <a:solidFill>
          <a:srgbClr val="FFFFFF"/>
        </a:solidFill>
      </p:bgPr>
    </p:bg>
    <p:spTree>
      <p:nvGrpSpPr>
        <p:cNvPr id="1" name=""/>
        <p:cNvGrpSpPr/>
        <p:nvPr/>
      </p:nvGrpSpPr>
      <p:grpSpPr>
        <a:xfrm>
          <a:off x="0" y="0"/>
          <a:ext cx="0" cy="0"/>
          <a:chOff x="0" y="0"/>
          <a:chExt cx="0" cy="0"/>
        </a:xfrm>
      </p:grpSpPr>
      <p:pic>
        <p:nvPicPr>
          <p:cNvPr id="2" name="Image 0" descr="/tmp/claude-0/-home-claude/fdadab9e-3585-5bce-b57d-e94aae0d9dfd/scratchpad/pptx/logo.png">    </p:cNvPr>
          <p:cNvPicPr>
            <a:picLocks noChangeAspect="1"/>
          </p:cNvPicPr>
          <p:nvPr/>
        </p:nvPicPr>
        <p:blipFill>
          <a:blip r:embed="rId1"/>
          <a:stretch>
            <a:fillRect/>
          </a:stretch>
        </p:blipFill>
        <p:spPr>
          <a:xfrm>
            <a:off x="320040" y="6291072"/>
            <a:ext cx="2011680" cy="393192"/>
          </a:xfrm>
          <a:prstGeom prst="rect">
            <a:avLst/>
          </a:prstGeom>
        </p:spPr>
      </p:pic>
      <p:sp>
        <p:nvSpPr>
          <p:cNvPr id="3" name="Text 0"/>
          <p:cNvSpPr/>
          <p:nvPr/>
        </p:nvSpPr>
        <p:spPr>
          <a:xfrm>
            <a:off x="2560320" y="6309360"/>
            <a:ext cx="7040880" cy="365760"/>
          </a:xfrm>
          <a:prstGeom prst="rect">
            <a:avLst/>
          </a:prstGeom>
          <a:noFill/>
          <a:ln/>
        </p:spPr>
        <p:txBody>
          <a:bodyPr wrap="square" lIns="0" tIns="0" rIns="0" bIns="0" rtlCol="0" anchor="ctr"/>
          <a:lstStyle/>
          <a:p>
            <a:pPr algn="ctr" indent="0" marL="0">
              <a:buNone/>
            </a:pPr>
            <a:r>
              <a:rPr lang="en-US" sz="1400" dirty="0">
                <a:solidFill>
                  <a:schemeClr val="tx1"/>
                </a:solidFill>
              </a:rPr>
              <a:t>IT23199262  |  J.K.B. Ekanayake  |  J26-DS-336</a:t>
            </a:r>
            <a:endParaRPr lang="en-US" sz="1400" dirty="0"/>
          </a:p>
        </p:txBody>
      </p:sp>
      <p:sp>
        <p:nvSpPr>
          <p:cNvPr id="4" name="Text 1"/>
          <p:cNvSpPr/>
          <p:nvPr/>
        </p:nvSpPr>
        <p:spPr>
          <a:xfrm>
            <a:off x="9692640" y="6309360"/>
            <a:ext cx="1463040" cy="365760"/>
          </a:xfrm>
          <a:prstGeom prst="rect">
            <a:avLst/>
          </a:prstGeom>
          <a:noFill/>
          <a:ln/>
        </p:spPr>
        <p:txBody>
          <a:bodyPr wrap="square" lIns="0" tIns="0" rIns="0" bIns="0" rtlCol="0" anchor="ctr"/>
          <a:lstStyle/>
          <a:p>
            <a:pPr algn="r" indent="0" marL="0">
              <a:buNone/>
            </a:pPr>
            <a:r>
              <a:rPr lang="en-US" sz="1200" dirty="0">
                <a:solidFill>
                  <a:schemeClr val="accent5"/>
                </a:solidFill>
              </a:rPr>
              <a:t>[date]</a:t>
            </a:r>
            <a:endParaRPr lang="en-US" sz="1200" dirty="0"/>
          </a:p>
        </p:txBody>
      </p:sp>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EMBER_a2">
    <p:bg>
      <p:bgPr>
        <a:solidFill>
          <a:srgbClr val="FFFFFF"/>
        </a:solidFill>
      </p:bgPr>
    </p:bg>
    <p:spTree>
      <p:nvGrpSpPr>
        <p:cNvPr id="1" name=""/>
        <p:cNvGrpSpPr/>
        <p:nvPr/>
      </p:nvGrpSpPr>
      <p:grpSpPr>
        <a:xfrm>
          <a:off x="0" y="0"/>
          <a:ext cx="0" cy="0"/>
          <a:chOff x="0" y="0"/>
          <a:chExt cx="0" cy="0"/>
        </a:xfrm>
      </p:grpSpPr>
      <p:pic>
        <p:nvPicPr>
          <p:cNvPr id="2" name="Image 0" descr="/tmp/claude-0/-home-claude/fdadab9e-3585-5bce-b57d-e94aae0d9dfd/scratchpad/pptx/logo.png">    </p:cNvPr>
          <p:cNvPicPr>
            <a:picLocks noChangeAspect="1"/>
          </p:cNvPicPr>
          <p:nvPr/>
        </p:nvPicPr>
        <p:blipFill>
          <a:blip r:embed="rId1"/>
          <a:stretch>
            <a:fillRect/>
          </a:stretch>
        </p:blipFill>
        <p:spPr>
          <a:xfrm>
            <a:off x="320040" y="6291072"/>
            <a:ext cx="2011680" cy="393192"/>
          </a:xfrm>
          <a:prstGeom prst="rect">
            <a:avLst/>
          </a:prstGeom>
        </p:spPr>
      </p:pic>
      <p:sp>
        <p:nvSpPr>
          <p:cNvPr id="3" name="Text 0"/>
          <p:cNvSpPr/>
          <p:nvPr/>
        </p:nvSpPr>
        <p:spPr>
          <a:xfrm>
            <a:off x="2560320" y="6309360"/>
            <a:ext cx="7040880" cy="365760"/>
          </a:xfrm>
          <a:prstGeom prst="rect">
            <a:avLst/>
          </a:prstGeom>
          <a:noFill/>
          <a:ln/>
        </p:spPr>
        <p:txBody>
          <a:bodyPr wrap="square" lIns="0" tIns="0" rIns="0" bIns="0" rtlCol="0" anchor="ctr"/>
          <a:lstStyle/>
          <a:p>
            <a:pPr algn="ctr" indent="0" marL="0">
              <a:buNone/>
            </a:pPr>
            <a:r>
              <a:rPr lang="en-US" sz="1400" dirty="0">
                <a:solidFill>
                  <a:schemeClr val="tx1"/>
                </a:solidFill>
              </a:rPr>
              <a:t>IT23282704  |  W.A.T. Wathsala  |  J26-DS-336</a:t>
            </a:r>
            <a:endParaRPr lang="en-US" sz="1400" dirty="0"/>
          </a:p>
        </p:txBody>
      </p:sp>
      <p:sp>
        <p:nvSpPr>
          <p:cNvPr id="4" name="Text 1"/>
          <p:cNvSpPr/>
          <p:nvPr/>
        </p:nvSpPr>
        <p:spPr>
          <a:xfrm>
            <a:off x="9692640" y="6309360"/>
            <a:ext cx="1463040" cy="365760"/>
          </a:xfrm>
          <a:prstGeom prst="rect">
            <a:avLst/>
          </a:prstGeom>
          <a:noFill/>
          <a:ln/>
        </p:spPr>
        <p:txBody>
          <a:bodyPr wrap="square" lIns="0" tIns="0" rIns="0" bIns="0" rtlCol="0" anchor="ctr"/>
          <a:lstStyle/>
          <a:p>
            <a:pPr algn="r" indent="0" marL="0">
              <a:buNone/>
            </a:pPr>
            <a:r>
              <a:rPr lang="en-US" sz="1200" dirty="0">
                <a:solidFill>
                  <a:schemeClr val="accent5"/>
                </a:solidFill>
              </a:rPr>
              <a:t>[date]</a:t>
            </a:r>
            <a:endParaRPr lang="en-US" sz="1200" dirty="0"/>
          </a:p>
        </p:txBody>
      </p:sp>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EMBER_a3">
    <p:bg>
      <p:bgPr>
        <a:solidFill>
          <a:srgbClr val="FFFFFF"/>
        </a:solidFill>
      </p:bgPr>
    </p:bg>
    <p:spTree>
      <p:nvGrpSpPr>
        <p:cNvPr id="1" name=""/>
        <p:cNvGrpSpPr/>
        <p:nvPr/>
      </p:nvGrpSpPr>
      <p:grpSpPr>
        <a:xfrm>
          <a:off x="0" y="0"/>
          <a:ext cx="0" cy="0"/>
          <a:chOff x="0" y="0"/>
          <a:chExt cx="0" cy="0"/>
        </a:xfrm>
      </p:grpSpPr>
      <p:pic>
        <p:nvPicPr>
          <p:cNvPr id="2" name="Image 0" descr="/tmp/claude-0/-home-claude/fdadab9e-3585-5bce-b57d-e94aae0d9dfd/scratchpad/pptx/logo.png">    </p:cNvPr>
          <p:cNvPicPr>
            <a:picLocks noChangeAspect="1"/>
          </p:cNvPicPr>
          <p:nvPr/>
        </p:nvPicPr>
        <p:blipFill>
          <a:blip r:embed="rId1"/>
          <a:stretch>
            <a:fillRect/>
          </a:stretch>
        </p:blipFill>
        <p:spPr>
          <a:xfrm>
            <a:off x="320040" y="6291072"/>
            <a:ext cx="2011680" cy="393192"/>
          </a:xfrm>
          <a:prstGeom prst="rect">
            <a:avLst/>
          </a:prstGeom>
        </p:spPr>
      </p:pic>
      <p:sp>
        <p:nvSpPr>
          <p:cNvPr id="3" name="Text 0"/>
          <p:cNvSpPr/>
          <p:nvPr/>
        </p:nvSpPr>
        <p:spPr>
          <a:xfrm>
            <a:off x="2560320" y="6309360"/>
            <a:ext cx="7040880" cy="365760"/>
          </a:xfrm>
          <a:prstGeom prst="rect">
            <a:avLst/>
          </a:prstGeom>
          <a:noFill/>
          <a:ln/>
        </p:spPr>
        <p:txBody>
          <a:bodyPr wrap="square" lIns="0" tIns="0" rIns="0" bIns="0" rtlCol="0" anchor="ctr"/>
          <a:lstStyle/>
          <a:p>
            <a:pPr algn="ctr" indent="0" marL="0">
              <a:buNone/>
            </a:pPr>
            <a:r>
              <a:rPr lang="en-US" sz="1400" dirty="0">
                <a:solidFill>
                  <a:schemeClr val="tx1"/>
                </a:solidFill>
              </a:rPr>
              <a:t>IT23404250  |  K.G.Y.V. Thathsarani  |  J26-DS-336</a:t>
            </a:r>
            <a:endParaRPr lang="en-US" sz="1400" dirty="0"/>
          </a:p>
        </p:txBody>
      </p:sp>
      <p:sp>
        <p:nvSpPr>
          <p:cNvPr id="4" name="Text 1"/>
          <p:cNvSpPr/>
          <p:nvPr/>
        </p:nvSpPr>
        <p:spPr>
          <a:xfrm>
            <a:off x="9692640" y="6309360"/>
            <a:ext cx="1463040" cy="365760"/>
          </a:xfrm>
          <a:prstGeom prst="rect">
            <a:avLst/>
          </a:prstGeom>
          <a:noFill/>
          <a:ln/>
        </p:spPr>
        <p:txBody>
          <a:bodyPr wrap="square" lIns="0" tIns="0" rIns="0" bIns="0" rtlCol="0" anchor="ctr"/>
          <a:lstStyle/>
          <a:p>
            <a:pPr algn="r" indent="0" marL="0">
              <a:buNone/>
            </a:pPr>
            <a:r>
              <a:rPr lang="en-US" sz="1200" dirty="0">
                <a:solidFill>
                  <a:schemeClr val="accent5"/>
                </a:solidFill>
              </a:rPr>
              <a:t>[date]</a:t>
            </a:r>
            <a:endParaRPr lang="en-US" sz="1200" dirty="0"/>
          </a:p>
        </p:txBody>
      </p:sp>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MEMBER_a4">
    <p:bg>
      <p:bgPr>
        <a:solidFill>
          <a:srgbClr val="FFFFFF"/>
        </a:solidFill>
      </p:bgPr>
    </p:bg>
    <p:spTree>
      <p:nvGrpSpPr>
        <p:cNvPr id="1" name=""/>
        <p:cNvGrpSpPr/>
        <p:nvPr/>
      </p:nvGrpSpPr>
      <p:grpSpPr>
        <a:xfrm>
          <a:off x="0" y="0"/>
          <a:ext cx="0" cy="0"/>
          <a:chOff x="0" y="0"/>
          <a:chExt cx="0" cy="0"/>
        </a:xfrm>
      </p:grpSpPr>
      <p:pic>
        <p:nvPicPr>
          <p:cNvPr id="2" name="Image 0" descr="/tmp/claude-0/-home-claude/fdadab9e-3585-5bce-b57d-e94aae0d9dfd/scratchpad/pptx/logo.png">    </p:cNvPr>
          <p:cNvPicPr>
            <a:picLocks noChangeAspect="1"/>
          </p:cNvPicPr>
          <p:nvPr/>
        </p:nvPicPr>
        <p:blipFill>
          <a:blip r:embed="rId1"/>
          <a:stretch>
            <a:fillRect/>
          </a:stretch>
        </p:blipFill>
        <p:spPr>
          <a:xfrm>
            <a:off x="320040" y="6291072"/>
            <a:ext cx="2011680" cy="393192"/>
          </a:xfrm>
          <a:prstGeom prst="rect">
            <a:avLst/>
          </a:prstGeom>
        </p:spPr>
      </p:pic>
      <p:sp>
        <p:nvSpPr>
          <p:cNvPr id="3" name="Text 0"/>
          <p:cNvSpPr/>
          <p:nvPr/>
        </p:nvSpPr>
        <p:spPr>
          <a:xfrm>
            <a:off x="2560320" y="6309360"/>
            <a:ext cx="7040880" cy="365760"/>
          </a:xfrm>
          <a:prstGeom prst="rect">
            <a:avLst/>
          </a:prstGeom>
          <a:noFill/>
          <a:ln/>
        </p:spPr>
        <p:txBody>
          <a:bodyPr wrap="square" lIns="0" tIns="0" rIns="0" bIns="0" rtlCol="0" anchor="ctr"/>
          <a:lstStyle/>
          <a:p>
            <a:pPr algn="ctr" indent="0" marL="0">
              <a:buNone/>
            </a:pPr>
            <a:r>
              <a:rPr lang="en-US" sz="1400" dirty="0">
                <a:solidFill>
                  <a:schemeClr val="tx1"/>
                </a:solidFill>
              </a:rPr>
              <a:t>IT23179912  |  K.M.I.N. Karunanayake  |  J26-DS-336</a:t>
            </a:r>
            <a:endParaRPr lang="en-US" sz="1400" dirty="0"/>
          </a:p>
        </p:txBody>
      </p:sp>
      <p:sp>
        <p:nvSpPr>
          <p:cNvPr id="4" name="Text 1"/>
          <p:cNvSpPr/>
          <p:nvPr/>
        </p:nvSpPr>
        <p:spPr>
          <a:xfrm>
            <a:off x="9692640" y="6309360"/>
            <a:ext cx="1463040" cy="365760"/>
          </a:xfrm>
          <a:prstGeom prst="rect">
            <a:avLst/>
          </a:prstGeom>
          <a:noFill/>
          <a:ln/>
        </p:spPr>
        <p:txBody>
          <a:bodyPr wrap="square" lIns="0" tIns="0" rIns="0" bIns="0" rtlCol="0" anchor="ctr"/>
          <a:lstStyle/>
          <a:p>
            <a:pPr algn="r" indent="0" marL="0">
              <a:buNone/>
            </a:pPr>
            <a:r>
              <a:rPr lang="en-US" sz="1200" dirty="0">
                <a:solidFill>
                  <a:schemeClr val="accent5"/>
                </a:solidFill>
              </a:rPr>
              <a:t>[date]</a:t>
            </a:r>
            <a:endParaRPr lang="en-US" sz="1200" dirty="0"/>
          </a:p>
        </p:txBody>
      </p:sp>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youtu.be/6OIGWGQ0emc" TargetMode="Externa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ubtitle"/>
          <p:cNvSpPr txBox="1"/>
          <p:nvPr/>
        </p:nvSpPr>
        <p:spPr>
          <a:xfrm>
            <a:off x="548640" y="1170432"/>
            <a:ext cx="11064240" cy="411480"/>
          </a:xfrm>
          <a:prstGeom prst="rect">
            <a:avLst/>
          </a:prstGeom>
          <a:noFill/>
          <a:ln/>
        </p:spPr>
        <p:txBody>
          <a:bodyPr wrap="square" lIns="0" tIns="0" rIns="0" bIns="0" rtlCol="0" anchor="ctr"/>
          <a:lstStyle/>
          <a:p>
            <a:pPr indent="0" marL="0">
              <a:buNone/>
            </a:pPr>
            <a:r>
              <a:rPr lang="en-US" sz="2000" b="1" dirty="0">
                <a:solidFill>
                  <a:schemeClr val="accent1"/>
                </a:solidFill>
              </a:rPr>
              <a:t>Comments for the proposal and how we have addressed them</a:t>
            </a:r>
            <a:endParaRPr lang="en-US" sz="2000" dirty="0"/>
          </a:p>
        </p:txBody>
      </p:sp>
      <p:graphicFrame>
        <p:nvGraphicFramePr>
          <p:cNvPr id="2" name="Comments table"/>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3657600"/>
                <a:gridCol w="7406640"/>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Comment from the panel</a:t>
                      </a:r>
                      <a:endParaRPr lang="en-US" sz="15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we have done, and how we addressed it</a:t>
                      </a:r>
                      <a:endParaRPr lang="en-US" sz="15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r>
              <a:tr h="0">
                <a:tc>
                  <a:txBody>
                    <a:bodyPr/>
                    <a:lstStyle/>
                    <a:p>
                      <a:pPr indent="0" marL="0">
                        <a:buNone/>
                      </a:pPr>
                      <a:r>
                        <a:rPr lang="en-US" sz="1500" b="1" dirty="0">
                          <a:solidFill>
                            <a:srgbClr val="1F2937"/>
                          </a:solidFill>
                          <a:latin typeface="Calibri" pitchFamily="34" charset="0"/>
                          <a:ea typeface="Calibri" pitchFamily="34" charset="-122"/>
                          <a:cs typeface="Calibri" pitchFamily="34" charset="-120"/>
                        </a:rPr>
                        <a:t>No proper component breakdown</a:t>
                      </a:r>
                      <a:endParaRPr lang="en-US" sz="15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Four agents with one owner each. Every agent has a fixed input and output, and the app shows each agent’s step separately in a trace.</a:t>
                      </a:r>
                      <a:endParaRPr lang="en-US" sz="15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0">
                <a:tc>
                  <a:txBody>
                    <a:bodyPr/>
                    <a:lstStyle/>
                    <a:p>
                      <a:pPr indent="0" marL="0">
                        <a:buNone/>
                      </a:pPr>
                      <a:r>
                        <a:rPr lang="en-US" sz="1500" b="1" dirty="0">
                          <a:solidFill>
                            <a:srgbClr val="1F2937"/>
                          </a:solidFill>
                          <a:latin typeface="Calibri" pitchFamily="34" charset="0"/>
                          <a:ea typeface="Calibri" pitchFamily="34" charset="-122"/>
                          <a:cs typeface="Calibri" pitchFamily="34" charset="-120"/>
                        </a:rPr>
                        <a:t>Novelty not explained: why a small model over a large one?</a:t>
                      </a:r>
                      <a:endParaRPr lang="en-US" sz="15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Companies with sensitive data can’t send it to cloud AI and have one GPU, so only a small model can be deployed. We measured where small models fail; each agent fixes one of those failures.</a:t>
                      </a:r>
                      <a:endParaRPr lang="en-US" sz="15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1F2937"/>
                          </a:solidFill>
                          <a:latin typeface="Calibri" pitchFamily="34" charset="0"/>
                          <a:ea typeface="Calibri" pitchFamily="34" charset="-122"/>
                          <a:cs typeface="Calibri" pitchFamily="34" charset="-120"/>
                        </a:rPr>
                        <a:t>Need to think about practical usage</a:t>
                      </a:r>
                      <a:endParaRPr lang="en-US" sz="15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A staff member types a question in a chat page and gets the answer, the SQL and every step from their own read-only database, and can save it to a dashboard.</a:t>
                      </a:r>
                      <a:endParaRPr lang="en-US" sz="15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0">
                <a:tc>
                  <a:txBody>
                    <a:bodyPr/>
                    <a:lstStyle/>
                    <a:p>
                      <a:pPr indent="0" marL="0">
                        <a:buNone/>
                      </a:pPr>
                      <a:r>
                        <a:rPr lang="en-US" sz="1500" b="1" dirty="0">
                          <a:solidFill>
                            <a:srgbClr val="1F2937"/>
                          </a:solidFill>
                          <a:latin typeface="Calibri" pitchFamily="34" charset="0"/>
                          <a:ea typeface="Calibri" pitchFamily="34" charset="-122"/>
                          <a:cs typeface="Calibri" pitchFamily="34" charset="-120"/>
                        </a:rPr>
                        <a:t>Implement a standalone application (Ekanayake)</a:t>
                      </a:r>
                      <a:endParaRPr lang="en-US" sz="15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Agent 1 runs on its own as a web page (Retrieval Explorer), an API and a command-line tool, and also plugs into the team app.</a:t>
                      </a:r>
                      <a:endParaRPr lang="en-US" sz="15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ubtitle"/>
          <p:cNvSpPr txBox="1"/>
          <p:nvPr/>
        </p:nvSpPr>
        <p:spPr>
          <a:xfrm>
            <a:off x="548640" y="1170432"/>
            <a:ext cx="11064240" cy="411480"/>
          </a:xfrm>
          <a:prstGeom prst="rect">
            <a:avLst/>
          </a:prstGeom>
          <a:noFill/>
          <a:ln/>
        </p:spPr>
        <p:txBody>
          <a:bodyPr wrap="square" lIns="0" tIns="0" rIns="0" bIns="0" rtlCol="0" anchor="ctr"/>
          <a:lstStyle/>
          <a:p>
            <a:pPr indent="0" marL="0">
              <a:buNone/>
            </a:pPr>
            <a:r>
              <a:rPr lang="en-US" sz="2000" b="1" dirty="0">
                <a:solidFill>
                  <a:schemeClr val="accent1"/>
                </a:solidFill>
              </a:rPr>
              <a:t>Problem, who it affects, design of the solution, and video</a:t>
            </a:r>
            <a:endParaRPr lang="en-US" sz="2000" dirty="0"/>
          </a:p>
        </p:txBody>
      </p:sp>
      <p:sp>
        <p:nvSpPr>
          <p:cNvPr id="3" name="Stat card 1"/>
          <p:cNvSpPr/>
          <p:nvPr/>
        </p:nvSpPr>
        <p:spPr>
          <a:xfrm>
            <a:off x="548640" y="1783080"/>
            <a:ext cx="3520440" cy="1554480"/>
          </a:xfrm>
          <a:prstGeom prst="roundRect">
            <a:avLst>
              <a:gd name="adj" fmla="val 4706"/>
            </a:avLst>
          </a:prstGeom>
          <a:solidFill>
            <a:srgbClr val="EEF1F5"/>
          </a:solidFill>
          <a:ln w="9525">
            <a:solidFill>
              <a:srgbClr val="D5DAE1"/>
            </a:solidFill>
            <a:prstDash val="solid"/>
          </a:ln>
        </p:spPr>
      </p:sp>
      <p:sp>
        <p:nvSpPr>
          <p:cNvPr id="4" name="Stat 1"/>
          <p:cNvSpPr txBox="1"/>
          <p:nvPr/>
        </p:nvSpPr>
        <p:spPr>
          <a:xfrm>
            <a:off x="777240" y="1874520"/>
            <a:ext cx="3063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27%</a:t>
            </a:r>
            <a:endParaRPr lang="en-US" sz="3600" dirty="0"/>
          </a:p>
        </p:txBody>
      </p:sp>
      <p:sp>
        <p:nvSpPr>
          <p:cNvPr id="5" name="Stat label 1"/>
          <p:cNvSpPr txBox="1"/>
          <p:nvPr/>
        </p:nvSpPr>
        <p:spPr>
          <a:xfrm>
            <a:off x="777240" y="2560320"/>
            <a:ext cx="3063240" cy="685800"/>
          </a:xfrm>
          <a:prstGeom prst="rect">
            <a:avLst/>
          </a:prstGeom>
          <a:noFill/>
          <a:ln/>
        </p:spPr>
        <p:txBody>
          <a:bodyPr wrap="square" lIns="0" tIns="0" rIns="0" bIns="0" rtlCol="0" anchor="t"/>
          <a:lstStyle/>
          <a:p>
            <a:pPr indent="0" marL="0">
              <a:buNone/>
            </a:pPr>
            <a:r>
              <a:rPr lang="en-US" sz="1300" dirty="0">
                <a:solidFill>
                  <a:schemeClr val="tx1"/>
                </a:solidFill>
              </a:rPr>
              <a:t>of organisations have banned generative AI over privacy risk (Cisco, 2024)</a:t>
            </a:r>
            <a:endParaRPr lang="en-US" sz="1300" dirty="0"/>
          </a:p>
        </p:txBody>
      </p:sp>
      <p:sp>
        <p:nvSpPr>
          <p:cNvPr id="6" name="Stat card 2"/>
          <p:cNvSpPr/>
          <p:nvPr/>
        </p:nvSpPr>
        <p:spPr>
          <a:xfrm>
            <a:off x="4297680" y="1783080"/>
            <a:ext cx="3520440" cy="1554480"/>
          </a:xfrm>
          <a:prstGeom prst="roundRect">
            <a:avLst>
              <a:gd name="adj" fmla="val 4706"/>
            </a:avLst>
          </a:prstGeom>
          <a:solidFill>
            <a:srgbClr val="EEF1F5"/>
          </a:solidFill>
          <a:ln w="9525">
            <a:solidFill>
              <a:srgbClr val="D5DAE1"/>
            </a:solidFill>
            <a:prstDash val="solid"/>
          </a:ln>
        </p:spPr>
      </p:sp>
      <p:sp>
        <p:nvSpPr>
          <p:cNvPr id="7" name="Stat 2"/>
          <p:cNvSpPr txBox="1"/>
          <p:nvPr/>
        </p:nvSpPr>
        <p:spPr>
          <a:xfrm>
            <a:off x="4526280" y="1874520"/>
            <a:ext cx="3063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48%</a:t>
            </a:r>
            <a:endParaRPr lang="en-US" sz="3600" dirty="0"/>
          </a:p>
        </p:txBody>
      </p:sp>
      <p:sp>
        <p:nvSpPr>
          <p:cNvPr id="8" name="Stat label 2"/>
          <p:cNvSpPr txBox="1"/>
          <p:nvPr/>
        </p:nvSpPr>
        <p:spPr>
          <a:xfrm>
            <a:off x="4526280" y="2560320"/>
            <a:ext cx="3063240" cy="685800"/>
          </a:xfrm>
          <a:prstGeom prst="rect">
            <a:avLst/>
          </a:prstGeom>
          <a:noFill/>
          <a:ln/>
        </p:spPr>
        <p:txBody>
          <a:bodyPr wrap="square" lIns="0" tIns="0" rIns="0" bIns="0" rtlCol="0" anchor="t"/>
          <a:lstStyle/>
          <a:p>
            <a:pPr indent="0" marL="0">
              <a:buNone/>
            </a:pPr>
            <a:r>
              <a:rPr lang="en-US" sz="1300" dirty="0">
                <a:solidFill>
                  <a:schemeClr val="tx1"/>
                </a:solidFill>
              </a:rPr>
              <a:t>admit entering non-public company data into it anyway (Cisco, 2024)</a:t>
            </a:r>
            <a:endParaRPr lang="en-US" sz="1300" dirty="0"/>
          </a:p>
        </p:txBody>
      </p:sp>
      <p:sp>
        <p:nvSpPr>
          <p:cNvPr id="9" name="Stat card 3"/>
          <p:cNvSpPr/>
          <p:nvPr/>
        </p:nvSpPr>
        <p:spPr>
          <a:xfrm>
            <a:off x="8046720" y="1783080"/>
            <a:ext cx="3520440" cy="1554480"/>
          </a:xfrm>
          <a:prstGeom prst="roundRect">
            <a:avLst>
              <a:gd name="adj" fmla="val 4706"/>
            </a:avLst>
          </a:prstGeom>
          <a:solidFill>
            <a:srgbClr val="EEF1F5"/>
          </a:solidFill>
          <a:ln w="9525">
            <a:solidFill>
              <a:srgbClr val="D5DAE1"/>
            </a:solidFill>
            <a:prstDash val="solid"/>
          </a:ln>
        </p:spPr>
      </p:sp>
      <p:sp>
        <p:nvSpPr>
          <p:cNvPr id="10" name="Stat 3"/>
          <p:cNvSpPr txBox="1"/>
          <p:nvPr/>
        </p:nvSpPr>
        <p:spPr>
          <a:xfrm>
            <a:off x="8275320" y="1874520"/>
            <a:ext cx="3063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35% → 71%</a:t>
            </a:r>
            <a:endParaRPr lang="en-US" sz="3600" dirty="0"/>
          </a:p>
        </p:txBody>
      </p:sp>
      <p:sp>
        <p:nvSpPr>
          <p:cNvPr id="11" name="Stat label 3"/>
          <p:cNvSpPr txBox="1"/>
          <p:nvPr/>
        </p:nvSpPr>
        <p:spPr>
          <a:xfrm>
            <a:off x="8275320" y="2560320"/>
            <a:ext cx="3063240" cy="685800"/>
          </a:xfrm>
          <a:prstGeom prst="rect">
            <a:avLst/>
          </a:prstGeom>
          <a:noFill/>
          <a:ln/>
        </p:spPr>
        <p:txBody>
          <a:bodyPr wrap="square" lIns="0" tIns="0" rIns="0" bIns="0" rtlCol="0" anchor="t"/>
          <a:lstStyle/>
          <a:p>
            <a:pPr indent="0" marL="0">
              <a:buNone/>
            </a:pPr>
            <a:r>
              <a:rPr lang="en-US" sz="1300" dirty="0">
                <a:solidFill>
                  <a:schemeClr val="tx1"/>
                </a:solidFill>
              </a:rPr>
              <a:t>correct SQL from a small model: full database vs only the right table (our test)</a:t>
            </a:r>
            <a:endParaRPr lang="en-US" sz="1300" dirty="0"/>
          </a:p>
        </p:txBody>
      </p:sp>
      <p:sp>
        <p:nvSpPr>
          <p:cNvPr id="12" name="Who card"/>
          <p:cNvSpPr/>
          <p:nvPr/>
        </p:nvSpPr>
        <p:spPr>
          <a:xfrm>
            <a:off x="548640" y="3566160"/>
            <a:ext cx="3657600" cy="2514600"/>
          </a:xfrm>
          <a:prstGeom prst="roundRect">
            <a:avLst>
              <a:gd name="adj" fmla="val 2909"/>
            </a:avLst>
          </a:prstGeom>
          <a:solidFill>
            <a:srgbClr val="F3F5F8"/>
          </a:solidFill>
          <a:ln w="9525">
            <a:solidFill>
              <a:srgbClr val="D5DAE1"/>
            </a:solidFill>
            <a:prstDash val="solid"/>
          </a:ln>
        </p:spPr>
      </p:sp>
      <p:sp>
        <p:nvSpPr>
          <p:cNvPr id="13" name="Who heading"/>
          <p:cNvSpPr txBox="1"/>
          <p:nvPr/>
        </p:nvSpPr>
        <p:spPr>
          <a:xfrm>
            <a:off x="777240" y="3703320"/>
            <a:ext cx="3200400" cy="411480"/>
          </a:xfrm>
          <a:prstGeom prst="rect">
            <a:avLst/>
          </a:prstGeom>
          <a:noFill/>
          <a:ln/>
        </p:spPr>
        <p:txBody>
          <a:bodyPr wrap="square" lIns="0" tIns="0" rIns="0" bIns="0" rtlCol="0" anchor="ctr"/>
          <a:lstStyle/>
          <a:p>
            <a:pPr indent="0" marL="0">
              <a:buNone/>
            </a:pPr>
            <a:r>
              <a:rPr lang="en-US" sz="1700" b="1" dirty="0">
                <a:solidFill>
                  <a:srgbClr val="14213D"/>
                </a:solidFill>
              </a:rPr>
              <a:t>Who has this problem</a:t>
            </a:r>
            <a:endParaRPr lang="en-US" sz="1700" dirty="0"/>
          </a:p>
        </p:txBody>
      </p:sp>
      <p:sp>
        <p:nvSpPr>
          <p:cNvPr id="14" name="Who body"/>
          <p:cNvSpPr txBox="1"/>
          <p:nvPr/>
        </p:nvSpPr>
        <p:spPr>
          <a:xfrm>
            <a:off x="777240" y="4069080"/>
            <a:ext cx="3200400" cy="1920240"/>
          </a:xfrm>
          <a:prstGeom prst="rect">
            <a:avLst/>
          </a:prstGeom>
          <a:noFill/>
          <a:ln/>
        </p:spPr>
        <p:txBody>
          <a:bodyPr wrap="square" lIns="0" tIns="0" rIns="0" bIns="0" rtlCol="0" anchor="t"/>
          <a:lstStyle/>
          <a:p>
            <a:pPr marL="190500" indent="-190500">
              <a:spcAft>
                <a:spcPts val="400"/>
              </a:spcAft>
              <a:buSzPct val="100000"/>
              <a:buChar char="•"/>
            </a:pPr>
            <a:r>
              <a:rPr lang="en-US" sz="1300" dirty="0">
                <a:solidFill>
                  <a:schemeClr val="tx1"/>
                </a:solidFill>
              </a:rPr>
              <a:t>Mid-size companies with sensitive data and no data team: finance companies, microfinance companies, smaller insurers</a:t>
            </a:r>
            <a:endParaRPr lang="en-US" sz="1300" dirty="0"/>
          </a:p>
          <a:p>
            <a:pPr marL="190500" indent="-190500">
              <a:spcAft>
                <a:spcPts val="400"/>
              </a:spcAft>
              <a:buSzPct val="100000"/>
              <a:buChar char="•"/>
            </a:pPr>
            <a:r>
              <a:rPr lang="en-US" sz="1300" dirty="0">
                <a:solidFill>
                  <a:schemeClr val="tx1"/>
                </a:solidFill>
              </a:rPr>
              <a:t>Their staff who can’t write SQL</a:t>
            </a:r>
            <a:endParaRPr lang="en-US" sz="1300" dirty="0"/>
          </a:p>
          <a:p>
            <a:pPr marL="190500" indent="-190500">
              <a:spcAft>
                <a:spcPts val="400"/>
              </a:spcAft>
              <a:buSzPct val="100000"/>
              <a:buChar char="•"/>
            </a:pPr>
            <a:r>
              <a:rPr lang="en-US" sz="1300" dirty="0">
                <a:solidFill>
                  <a:schemeClr val="tx1"/>
                </a:solidFill>
              </a:rPr>
              <a:t>Sri Lanka’s PDPA No. 9 of 2022 makes sending customer data out a legal risk</a:t>
            </a:r>
            <a:endParaRPr lang="en-US" sz="1300" dirty="0"/>
          </a:p>
        </p:txBody>
      </p:sp>
      <p:sp>
        <p:nvSpPr>
          <p:cNvPr id="15" name="Design card"/>
          <p:cNvSpPr/>
          <p:nvPr/>
        </p:nvSpPr>
        <p:spPr>
          <a:xfrm>
            <a:off x="4343400" y="3566160"/>
            <a:ext cx="3657600" cy="2514600"/>
          </a:xfrm>
          <a:prstGeom prst="roundRect">
            <a:avLst>
              <a:gd name="adj" fmla="val 2909"/>
            </a:avLst>
          </a:prstGeom>
          <a:solidFill>
            <a:srgbClr val="F3F5F8"/>
          </a:solidFill>
          <a:ln w="9525">
            <a:solidFill>
              <a:srgbClr val="D5DAE1"/>
            </a:solidFill>
            <a:prstDash val="solid"/>
          </a:ln>
        </p:spPr>
      </p:sp>
      <p:sp>
        <p:nvSpPr>
          <p:cNvPr id="16" name="Design heading"/>
          <p:cNvSpPr txBox="1"/>
          <p:nvPr/>
        </p:nvSpPr>
        <p:spPr>
          <a:xfrm>
            <a:off x="4572000" y="3703320"/>
            <a:ext cx="3200400" cy="411480"/>
          </a:xfrm>
          <a:prstGeom prst="rect">
            <a:avLst/>
          </a:prstGeom>
          <a:noFill/>
          <a:ln/>
        </p:spPr>
        <p:txBody>
          <a:bodyPr wrap="square" lIns="0" tIns="0" rIns="0" bIns="0" rtlCol="0" anchor="ctr"/>
          <a:lstStyle/>
          <a:p>
            <a:pPr indent="0" marL="0">
              <a:buNone/>
            </a:pPr>
            <a:r>
              <a:rPr lang="en-US" sz="1700" b="1" dirty="0">
                <a:solidFill>
                  <a:srgbClr val="14213D"/>
                </a:solidFill>
              </a:rPr>
              <a:t>Design of the overall solution</a:t>
            </a:r>
            <a:endParaRPr lang="en-US" sz="1700" dirty="0"/>
          </a:p>
        </p:txBody>
      </p:sp>
      <p:sp>
        <p:nvSpPr>
          <p:cNvPr id="17" name="Design body"/>
          <p:cNvSpPr txBox="1"/>
          <p:nvPr/>
        </p:nvSpPr>
        <p:spPr>
          <a:xfrm>
            <a:off x="4572000" y="4069080"/>
            <a:ext cx="3200400" cy="1920240"/>
          </a:xfrm>
          <a:prstGeom prst="rect">
            <a:avLst/>
          </a:prstGeom>
          <a:noFill/>
          <a:ln/>
        </p:spPr>
        <p:txBody>
          <a:bodyPr wrap="square" lIns="0" tIns="0" rIns="0" bIns="0" rtlCol="0" anchor="t"/>
          <a:lstStyle/>
          <a:p>
            <a:pPr marL="190500" indent="-190500">
              <a:spcAft>
                <a:spcPts val="400"/>
              </a:spcAft>
              <a:buSzPct val="100000"/>
              <a:buChar char="•"/>
            </a:pPr>
            <a:r>
              <a:rPr lang="en-US" sz="1300" dirty="0">
                <a:solidFill>
                  <a:schemeClr val="tx1"/>
                </a:solidFill>
              </a:rPr>
              <a:t>Four small agents, each fixing one measured weakness of small models</a:t>
            </a:r>
            <a:endParaRPr lang="en-US" sz="1300" dirty="0"/>
          </a:p>
          <a:p>
            <a:pPr marL="190500" indent="-190500">
              <a:spcAft>
                <a:spcPts val="400"/>
              </a:spcAft>
              <a:buSzPct val="100000"/>
              <a:buChar char="•"/>
            </a:pPr>
            <a:r>
              <a:rPr lang="en-US" sz="1300" dirty="0">
                <a:solidFill>
                  <a:schemeClr val="tx1"/>
                </a:solidFill>
              </a:rPr>
              <a:t>Runs on one mid-range GPU; nothing leaves the company</a:t>
            </a:r>
            <a:endParaRPr lang="en-US" sz="1300" dirty="0"/>
          </a:p>
          <a:p>
            <a:pPr marL="190500" indent="-190500">
              <a:spcAft>
                <a:spcPts val="400"/>
              </a:spcAft>
              <a:buSzPct val="100000"/>
              <a:buChar char="•"/>
            </a:pPr>
            <a:r>
              <a:rPr lang="en-US" sz="1300" dirty="0">
                <a:solidFill>
                  <a:schemeClr val="tx1"/>
                </a:solidFill>
              </a:rPr>
              <a:t>Every answer shows its SQL and each agent’s step</a:t>
            </a:r>
            <a:endParaRPr lang="en-US" sz="1300" dirty="0"/>
          </a:p>
        </p:txBody>
      </p:sp>
      <p:sp>
        <p:nvSpPr>
          <p:cNvPr id="18" name="Video card"/>
          <p:cNvSpPr/>
          <p:nvPr/>
        </p:nvSpPr>
        <p:spPr>
          <a:xfrm>
            <a:off x="8138160" y="3566160"/>
            <a:ext cx="3474720" cy="2514600"/>
          </a:xfrm>
          <a:prstGeom prst="roundRect">
            <a:avLst>
              <a:gd name="adj" fmla="val 2909"/>
            </a:avLst>
          </a:prstGeom>
          <a:solidFill>
            <a:srgbClr val="14213D"/>
          </a:solidFill>
          <a:ln w="9525">
            <a:solidFill>
              <a:srgbClr val="D5DAE1"/>
            </a:solidFill>
            <a:prstDash val="solid"/>
          </a:ln>
        </p:spPr>
      </p:sp>
      <p:sp>
        <p:nvSpPr>
          <p:cNvPr id="19" name="Video heading"/>
          <p:cNvSpPr txBox="1"/>
          <p:nvPr/>
        </p:nvSpPr>
        <p:spPr>
          <a:xfrm>
            <a:off x="8366760" y="3703320"/>
            <a:ext cx="3017520" cy="411480"/>
          </a:xfrm>
          <a:prstGeom prst="rect">
            <a:avLst/>
          </a:prstGeom>
          <a:noFill/>
          <a:ln/>
        </p:spPr>
        <p:txBody>
          <a:bodyPr wrap="square" lIns="0" tIns="0" rIns="0" bIns="0" rtlCol="0" anchor="ctr"/>
          <a:lstStyle/>
          <a:p>
            <a:pPr indent="0" marL="0">
              <a:buNone/>
            </a:pPr>
            <a:r>
              <a:rPr lang="en-US" sz="1700" b="1" dirty="0">
                <a:solidFill>
                  <a:srgbClr val="FFFFFF"/>
                </a:solidFill>
              </a:rPr>
              <a:t>1–2 minute video</a:t>
            </a:r>
            <a:endParaRPr lang="en-US" sz="1700" dirty="0"/>
          </a:p>
        </p:txBody>
      </p:sp>
      <p:sp>
        <p:nvSpPr>
          <p:cNvPr id="20" name="Video text"/>
          <p:cNvSpPr txBox="1"/>
          <p:nvPr/>
        </p:nvSpPr>
        <p:spPr>
          <a:xfrm>
            <a:off x="8366760" y="4069080"/>
            <a:ext cx="3017520" cy="731520"/>
          </a:xfrm>
          <a:prstGeom prst="rect">
            <a:avLst/>
          </a:prstGeom>
          <a:noFill/>
          <a:ln/>
        </p:spPr>
        <p:txBody>
          <a:bodyPr wrap="square" lIns="0" tIns="0" rIns="0" bIns="0" rtlCol="0" anchor="ctr"/>
          <a:lstStyle/>
          <a:p>
            <a:pPr indent="0" marL="0">
              <a:buNone/>
            </a:pPr>
            <a:r>
              <a:rPr lang="en-US" sz="1300" dirty="0">
                <a:solidFill>
                  <a:srgbClr val="DDE3EC"/>
                </a:solidFill>
              </a:rPr>
              <a:t>One question going through the whole system, step by step.</a:t>
            </a:r>
            <a:endParaRPr lang="en-US" sz="1300" dirty="0"/>
          </a:p>
        </p:txBody>
      </p:sp>
      <p:sp>
        <p:nvSpPr>
          <p:cNvPr id="21" name="Video button"/>
          <p:cNvSpPr/>
          <p:nvPr/>
        </p:nvSpPr>
        <p:spPr>
          <a:xfrm>
            <a:off x="8366760" y="4983480"/>
            <a:ext cx="2743200" cy="548640"/>
          </a:xfrm>
          <a:prstGeom prst="roundRect">
            <a:avLst>
              <a:gd name="adj" fmla="val 13333"/>
            </a:avLst>
          </a:prstGeom>
          <a:solidFill>
            <a:srgbClr val="E8A25B"/>
          </a:solidFill>
          <a:ln/>
        </p:spPr>
        <p:txBody>
          <a:bodyPr wrap="square" lIns="0" tIns="0" rIns="0" bIns="0" rtlCol="0" anchor="ctr"/>
          <a:lstStyle/>
          <a:p>
            <a:pPr algn="ctr" indent="0" marL="0">
              <a:buNone/>
            </a:pPr>
            <a:r>
              <a:rPr lang="en-US" sz="1600" b="1" u="sng" dirty="0">
                <a:solidFill>
                  <a:srgbClr val="14213D"/>
                </a:solidFill>
                <a:hlinkClick r:id="rId1" invalidUrl="" action="" tgtFrame="" tooltip="Open the 2-minute video" history="1" highlightClick="0" endSnd="0">
                  <a:extLst>
                    <a:ext uri="{A12FA001-AC4F-418D-AE19-62706E023703}">
                      <ahyp:hlinkClr xmlns:ahyp="http://schemas.microsoft.com/office/drawing/2018/hyperlinkcolor" val="tx"/>
                    </a:ext>
                  </a:extLst>
                </a:hlinkClick>
              </a:rPr>
              <a:t>▶  Watch on YouTube</a:t>
            </a:r>
            <a:endParaRPr lang="en-US" sz="1600" dirty="0"/>
          </a:p>
        </p:txBody>
      </p:sp>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ubtitle"/>
          <p:cNvSpPr txBox="1"/>
          <p:nvPr/>
        </p:nvSpPr>
        <p:spPr>
          <a:xfrm>
            <a:off x="548640" y="1170432"/>
            <a:ext cx="11064240" cy="411480"/>
          </a:xfrm>
          <a:prstGeom prst="rect">
            <a:avLst/>
          </a:prstGeom>
          <a:noFill/>
          <a:ln/>
        </p:spPr>
        <p:txBody>
          <a:bodyPr wrap="square" lIns="0" tIns="0" rIns="0" bIns="0" rtlCol="0" anchor="ctr"/>
          <a:lstStyle/>
          <a:p>
            <a:pPr indent="0" marL="0">
              <a:buNone/>
            </a:pPr>
            <a:r>
              <a:rPr lang="en-US" sz="2000" b="1" dirty="0">
                <a:solidFill>
                  <a:schemeClr val="accent1"/>
                </a:solidFill>
              </a:rPr>
              <a:t>Design of the overall solution: how one question flows</a:t>
            </a:r>
            <a:endParaRPr lang="en-US" sz="2000" dirty="0"/>
          </a:p>
        </p:txBody>
      </p:sp>
      <p:pic>
        <p:nvPicPr>
          <p:cNvPr id="3" name="Runtime flow diagram" descr="Runtime flow: user and chat front end; orchestration; Agent 1 retrieval and pruning, Agent 2 question gate, Agent 3 SQL generation, Agent 4 quantized execution; data and model stores. Numbers give the order of one question.">    </p:cNvPr>
          <p:cNvPicPr>
            <a:picLocks noChangeAspect="1"/>
          </p:cNvPicPr>
          <p:nvPr/>
        </p:nvPicPr>
        <p:blipFill>
          <a:blip r:embed="rId1"/>
          <a:stretch>
            <a:fillRect/>
          </a:stretch>
        </p:blipFill>
        <p:spPr>
          <a:xfrm>
            <a:off x="2752613" y="1691640"/>
            <a:ext cx="6656294" cy="4526280"/>
          </a:xfrm>
          <a:prstGeom prst="rect">
            <a:avLst/>
          </a:prstGeom>
        </p:spPr>
      </p:pic>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hoto frame"/>
          <p:cNvSpPr/>
          <p:nvPr/>
        </p:nvSpPr>
        <p:spPr>
          <a:xfrm>
            <a:off x="9418320" y="320040"/>
            <a:ext cx="2377440" cy="2834640"/>
          </a:xfrm>
          <a:prstGeom prst="rect">
            <a:avLst/>
          </a:prstGeom>
          <a:solidFill>
            <a:srgbClr val="111111"/>
          </a:solidFill>
          <a:ln w="12700">
            <a:solidFill>
              <a:srgbClr val="111111"/>
            </a:solidFill>
            <a:prstDash val="solid"/>
          </a:ln>
        </p:spPr>
      </p:sp>
      <p:sp>
        <p:nvSpPr>
          <p:cNvPr id="3" name="Photo prompt"/>
          <p:cNvSpPr txBox="1"/>
          <p:nvPr/>
        </p:nvSpPr>
        <p:spPr>
          <a:xfrm>
            <a:off x="9555480" y="1371600"/>
            <a:ext cx="2103120" cy="731520"/>
          </a:xfrm>
          <a:prstGeom prst="rect">
            <a:avLst/>
          </a:prstGeom>
          <a:noFill/>
          <a:ln/>
        </p:spPr>
        <p:txBody>
          <a:bodyPr wrap="square" lIns="0" tIns="0" rIns="0" bIns="0" rtlCol="0" anchor="ctr"/>
          <a:lstStyle/>
          <a:p>
            <a:pPr algn="ctr" indent="0" marL="0">
              <a:buNone/>
            </a:pPr>
            <a:r>
              <a:rPr lang="en-US" sz="1300" dirty="0">
                <a:solidFill>
                  <a:srgbClr val="FFFFFF"/>
                </a:solidFill>
              </a:rPr>
              <a:t>Add a professional photo here</a:t>
            </a:r>
            <a:endParaRPr lang="en-US" sz="1300" dirty="0"/>
          </a:p>
        </p:txBody>
      </p:sp>
      <p:sp>
        <p:nvSpPr>
          <p:cNvPr id="4" name="Title label"/>
          <p:cNvSpPr txBox="1"/>
          <p:nvPr/>
        </p:nvSpPr>
        <p:spPr>
          <a:xfrm>
            <a:off x="548640" y="3520440"/>
            <a:ext cx="8229600" cy="365760"/>
          </a:xfrm>
          <a:prstGeom prst="rect">
            <a:avLst/>
          </a:prstGeom>
          <a:noFill/>
          <a:ln/>
        </p:spPr>
        <p:txBody>
          <a:bodyPr wrap="square" lIns="0" tIns="0" rIns="0" bIns="0" rtlCol="0" anchor="ctr"/>
          <a:lstStyle/>
          <a:p>
            <a:pPr indent="0" marL="0">
              <a:buNone/>
            </a:pPr>
            <a:r>
              <a:rPr lang="en-US" sz="1400" b="1" spc="100" kern="0" dirty="0">
                <a:solidFill>
                  <a:schemeClr val="accent1"/>
                </a:solidFill>
              </a:rPr>
              <a:t>Title of the individual component</a:t>
            </a:r>
            <a:endParaRPr lang="en-US" sz="1400" dirty="0"/>
          </a:p>
        </p:txBody>
      </p:sp>
      <p:sp>
        <p:nvSpPr>
          <p:cNvPr id="5" name="Individual title"/>
          <p:cNvSpPr txBox="1"/>
          <p:nvPr/>
        </p:nvSpPr>
        <p:spPr>
          <a:xfrm>
            <a:off x="548640" y="3931920"/>
            <a:ext cx="10515600" cy="1280160"/>
          </a:xfrm>
          <a:prstGeom prst="rect">
            <a:avLst/>
          </a:prstGeom>
          <a:noFill/>
          <a:ln/>
        </p:spPr>
        <p:txBody>
          <a:bodyPr wrap="square" lIns="0" tIns="0" rIns="0" bIns="0" rtlCol="0" anchor="t"/>
          <a:lstStyle/>
          <a:p>
            <a:pPr indent="0" marL="0">
              <a:buNone/>
            </a:pPr>
            <a:r>
              <a:rPr lang="en-US" sz="3400" b="1" dirty="0">
                <a:solidFill>
                  <a:schemeClr val="tx2"/>
                </a:solidFill>
                <a:latin typeface="Cambria" pitchFamily="34" charset="0"/>
                <a:ea typeface="Cambria" pitchFamily="34" charset="-122"/>
                <a:cs typeface="Cambria" pitchFamily="34" charset="-120"/>
              </a:rPr>
              <a:t>Complexity-Adaptive Column-Level Schema Pruning for Small Language Models</a:t>
            </a:r>
            <a:endParaRPr lang="en-US" sz="3400" dirty="0"/>
          </a:p>
        </p:txBody>
      </p:sp>
      <p:sp>
        <p:nvSpPr>
          <p:cNvPr id="6" name="Specialization"/>
          <p:cNvSpPr txBox="1"/>
          <p:nvPr/>
        </p:nvSpPr>
        <p:spPr>
          <a:xfrm>
            <a:off x="548640" y="5440680"/>
            <a:ext cx="7315200" cy="411480"/>
          </a:xfrm>
          <a:prstGeom prst="rect">
            <a:avLst/>
          </a:prstGeom>
          <a:noFill/>
          <a:ln/>
        </p:spPr>
        <p:txBody>
          <a:bodyPr wrap="square" lIns="0" tIns="0" rIns="0" bIns="0" rtlCol="0" anchor="ctr"/>
          <a:lstStyle/>
          <a:p>
            <a:pPr indent="0" marL="0">
              <a:buNone/>
            </a:pPr>
            <a:r>
              <a:rPr lang="en-US" sz="1800" b="1" dirty="0">
                <a:solidFill>
                  <a:schemeClr val="tx1"/>
                </a:solidFill>
              </a:rPr>
              <a:t>Specialization: </a:t>
            </a:r>
            <a:pPr indent="0" marL="0">
              <a:buNone/>
            </a:pPr>
            <a:r>
              <a:rPr lang="en-US" sz="1800" dirty="0">
                <a:solidFill>
                  <a:schemeClr val="tx1"/>
                </a:solidFill>
              </a:rPr>
              <a:t>Data Science</a:t>
            </a:r>
            <a:endParaRPr lang="en-US" sz="1800" dirty="0"/>
          </a:p>
        </p:txBody>
      </p:sp>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INDIVIDUAL COMPONENT · 1 OF 2</a:t>
            </a:r>
            <a:endParaRPr lang="en-US" sz="1200" dirty="0"/>
          </a:p>
        </p:txBody>
      </p:sp>
      <p:sp>
        <p:nvSpPr>
          <p:cNvPr id="3" name="Individual title"/>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Complexity-Adaptive Column-Level Schema Pruning for Small Language Models</a:t>
            </a:r>
            <a:endParaRPr lang="en-US" sz="2600" dirty="0"/>
          </a:p>
        </p:txBody>
      </p:sp>
      <p:sp>
        <p:nvSpPr>
          <p:cNvPr id="4" name="Prototype card"/>
          <p:cNvSpPr/>
          <p:nvPr/>
        </p:nvSpPr>
        <p:spPr>
          <a:xfrm>
            <a:off x="548640" y="1554480"/>
            <a:ext cx="6035040" cy="4526280"/>
          </a:xfrm>
          <a:prstGeom prst="roundRect">
            <a:avLst>
              <a:gd name="adj" fmla="val 1616"/>
            </a:avLst>
          </a:prstGeom>
          <a:solidFill>
            <a:srgbClr val="F3F5F8"/>
          </a:solidFill>
          <a:ln w="9525">
            <a:solidFill>
              <a:srgbClr val="D5DAE1"/>
            </a:solidFill>
            <a:prstDash val="solid"/>
          </a:ln>
        </p:spPr>
      </p:sp>
      <p:sp>
        <p:nvSpPr>
          <p:cNvPr id="5" name="Prototype heading"/>
          <p:cNvSpPr txBox="1"/>
          <p:nvPr/>
        </p:nvSpPr>
        <p:spPr>
          <a:xfrm>
            <a:off x="777240" y="1691640"/>
            <a:ext cx="5577840" cy="411480"/>
          </a:xfrm>
          <a:prstGeom prst="rect">
            <a:avLst/>
          </a:prstGeom>
          <a:noFill/>
          <a:ln/>
        </p:spPr>
        <p:txBody>
          <a:bodyPr wrap="square" lIns="0" tIns="0" rIns="0" bIns="0" rtlCol="0" anchor="ctr"/>
          <a:lstStyle/>
          <a:p>
            <a:pPr indent="0" marL="0">
              <a:buNone/>
            </a:pPr>
            <a:r>
              <a:rPr lang="en-US" sz="1700" b="1" dirty="0">
                <a:solidFill>
                  <a:srgbClr val="14213D"/>
                </a:solidFill>
              </a:rPr>
              <a:t>How the solution addresses the sub-problem (prototype)</a:t>
            </a:r>
            <a:endParaRPr lang="en-US" sz="1700" dirty="0"/>
          </a:p>
        </p:txBody>
      </p:sp>
      <p:sp>
        <p:nvSpPr>
          <p:cNvPr id="6" name="Sub-problem"/>
          <p:cNvSpPr txBox="1"/>
          <p:nvPr/>
        </p:nvSpPr>
        <p:spPr>
          <a:xfrm>
            <a:off x="777240" y="2057400"/>
            <a:ext cx="5577840" cy="868680"/>
          </a:xfrm>
          <a:prstGeom prst="rect">
            <a:avLst/>
          </a:prstGeom>
          <a:noFill/>
          <a:ln/>
        </p:spPr>
        <p:txBody>
          <a:bodyPr wrap="square" lIns="0" tIns="0" rIns="0" bIns="0" rtlCol="0" anchor="t"/>
          <a:lstStyle/>
          <a:p>
            <a:pPr indent="0" marL="0">
              <a:buNone/>
            </a:pPr>
            <a:r>
              <a:rPr lang="en-US" sz="1500" i="1" dirty="0">
                <a:solidFill>
                  <a:srgbClr val="4B5563"/>
                </a:solidFill>
              </a:rPr>
              <a:t>Sub-problem: a small model gets confused when it sees the whole database: 35% correct with three tables, 71% with only the right one.</a:t>
            </a:r>
            <a:endParaRPr lang="en-US" sz="1500" dirty="0"/>
          </a:p>
        </p:txBody>
      </p:sp>
      <p:sp>
        <p:nvSpPr>
          <p:cNvPr id="7" name="Prototype steps"/>
          <p:cNvSpPr txBox="1"/>
          <p:nvPr/>
        </p:nvSpPr>
        <p:spPr>
          <a:xfrm>
            <a:off x="777240" y="3017520"/>
            <a:ext cx="5577840" cy="2971800"/>
          </a:xfrm>
          <a:prstGeom prst="rect">
            <a:avLst/>
          </a:prstGeom>
          <a:noFill/>
          <a:ln/>
        </p:spPr>
        <p:txBody>
          <a:bodyPr wrap="square" lIns="0" tIns="0" rIns="0" bIns="0" rtlCol="0" anchor="t"/>
          <a:lstStyle/>
          <a:p>
            <a:pPr marL="190500" indent="-190500">
              <a:spcAft>
                <a:spcPts val="400"/>
              </a:spcAft>
              <a:buSzPct val="100000"/>
              <a:buChar char="•"/>
            </a:pPr>
            <a:r>
              <a:rPr lang="en-US" sz="1600" b="1" dirty="0">
                <a:solidFill>
                  <a:schemeClr val="tx1"/>
                </a:solidFill>
              </a:rPr>
              <a:t>Classify </a:t>
            </a:r>
            <a:pPr indent="0" marL="0">
              <a:spcAft>
                <a:spcPts val="400"/>
              </a:spcAft>
              <a:buNone/>
            </a:pPr>
            <a:r>
              <a:rPr lang="en-US" sz="1600" dirty="0">
                <a:solidFill>
                  <a:schemeClr val="tx1"/>
                </a:solidFill>
              </a:rPr>
              <a:t>the question: simple, single-join, multi-join or totals</a:t>
            </a:r>
            <a:endParaRPr lang="en-US" sz="1600" dirty="0"/>
          </a:p>
          <a:p>
            <a:pPr marL="190500" indent="-190500">
              <a:spcAft>
                <a:spcPts val="400"/>
              </a:spcAft>
              <a:buSzPct val="100000"/>
              <a:buChar char="•"/>
            </a:pPr>
            <a:r>
              <a:rPr lang="en-US" sz="1600" b="1" dirty="0">
                <a:solidFill>
                  <a:schemeClr val="tx1"/>
                </a:solidFill>
              </a:rPr>
              <a:t>Find </a:t>
            </a:r>
            <a:pPr indent="0" marL="0">
              <a:spcAft>
                <a:spcPts val="400"/>
              </a:spcAft>
              <a:buNone/>
            </a:pPr>
            <a:r>
              <a:rPr lang="en-US" sz="1600" dirty="0">
                <a:solidFill>
                  <a:schemeClr val="tx1"/>
                </a:solidFill>
              </a:rPr>
              <a:t>the top 3 starting tables</a:t>
            </a:r>
            <a:endParaRPr lang="en-US" sz="1600" dirty="0"/>
          </a:p>
          <a:p>
            <a:pPr marL="190500" indent="-190500">
              <a:spcAft>
                <a:spcPts val="400"/>
              </a:spcAft>
              <a:buSzPct val="100000"/>
              <a:buChar char="•"/>
            </a:pPr>
            <a:r>
              <a:rPr lang="en-US" sz="1600" b="1" dirty="0">
                <a:solidFill>
                  <a:schemeClr val="tx1"/>
                </a:solidFill>
              </a:rPr>
              <a:t>Add </a:t>
            </a:r>
            <a:pPr indent="0" marL="0">
              <a:spcAft>
                <a:spcPts val="400"/>
              </a:spcAft>
              <a:buNone/>
            </a:pPr>
            <a:r>
              <a:rPr lang="en-US" sz="1600" dirty="0">
                <a:solidFill>
                  <a:schemeClr val="tx1"/>
                </a:solidFill>
              </a:rPr>
              <a:t>the tables needed to join them</a:t>
            </a:r>
            <a:endParaRPr lang="en-US" sz="1600" dirty="0"/>
          </a:p>
          <a:p>
            <a:pPr marL="190500" indent="-190500">
              <a:spcAft>
                <a:spcPts val="400"/>
              </a:spcAft>
              <a:buSzPct val="100000"/>
              <a:buChar char="•"/>
            </a:pPr>
            <a:r>
              <a:rPr lang="en-US" sz="1600" b="1" dirty="0">
                <a:solidFill>
                  <a:schemeClr val="tx1"/>
                </a:solidFill>
              </a:rPr>
              <a:t>Keep </a:t>
            </a:r>
            <a:pPr indent="0" marL="0">
              <a:spcAft>
                <a:spcPts val="400"/>
              </a:spcAft>
              <a:buNone/>
            </a:pPr>
            <a:r>
              <a:rPr lang="en-US" sz="1600" dirty="0">
                <a:solidFill>
                  <a:schemeClr val="tx1"/>
                </a:solidFill>
              </a:rPr>
              <a:t>only the needed columns, with value hints (“Canada” → Customer.Country)</a:t>
            </a:r>
            <a:endParaRPr lang="en-US" sz="1600" dirty="0"/>
          </a:p>
          <a:p>
            <a:pPr marL="190500" indent="-190500">
              <a:spcAft>
                <a:spcPts val="400"/>
              </a:spcAft>
              <a:buSzPct val="100000"/>
              <a:buChar char="•"/>
            </a:pPr>
            <a:r>
              <a:rPr lang="en-US" sz="1600" b="1" dirty="0">
                <a:solidFill>
                  <a:schemeClr val="tx1"/>
                </a:solidFill>
              </a:rPr>
              <a:t>Size </a:t>
            </a:r>
            <a:pPr indent="0" marL="0">
              <a:spcAft>
                <a:spcPts val="400"/>
              </a:spcAft>
              <a:buNone/>
            </a:pPr>
            <a:r>
              <a:rPr lang="en-US" sz="1600" dirty="0">
                <a:solidFill>
                  <a:schemeClr val="tx1"/>
                </a:solidFill>
              </a:rPr>
              <a:t>the schema to the question; pass it and the label to Agent 3</a:t>
            </a:r>
            <a:endParaRPr lang="en-US" sz="1600" dirty="0"/>
          </a:p>
        </p:txBody>
      </p:sp>
      <p:sp>
        <p:nvSpPr>
          <p:cNvPr id="8" name="Requirements card"/>
          <p:cNvSpPr/>
          <p:nvPr/>
        </p:nvSpPr>
        <p:spPr>
          <a:xfrm>
            <a:off x="6766560" y="1554480"/>
            <a:ext cx="4846320" cy="4526280"/>
          </a:xfrm>
          <a:prstGeom prst="roundRect">
            <a:avLst>
              <a:gd name="adj" fmla="val 1616"/>
            </a:avLst>
          </a:prstGeom>
          <a:solidFill>
            <a:srgbClr val="F3F5F8"/>
          </a:solidFill>
          <a:ln w="9525">
            <a:solidFill>
              <a:srgbClr val="D5DAE1"/>
            </a:solidFill>
            <a:prstDash val="solid"/>
          </a:ln>
        </p:spPr>
      </p:sp>
      <p:sp>
        <p:nvSpPr>
          <p:cNvPr id="9" name="Requirements heading"/>
          <p:cNvSpPr txBox="1"/>
          <p:nvPr/>
        </p:nvSpPr>
        <p:spPr>
          <a:xfrm>
            <a:off x="6995160" y="1691640"/>
            <a:ext cx="4389120" cy="411480"/>
          </a:xfrm>
          <a:prstGeom prst="rect">
            <a:avLst/>
          </a:prstGeom>
          <a:noFill/>
          <a:ln/>
        </p:spPr>
        <p:txBody>
          <a:bodyPr wrap="square" lIns="0" tIns="0" rIns="0" bIns="0" rtlCol="0" anchor="ctr"/>
          <a:lstStyle/>
          <a:p>
            <a:pPr indent="0" marL="0">
              <a:buNone/>
            </a:pPr>
            <a:r>
              <a:rPr lang="en-US" sz="1700" b="1" dirty="0">
                <a:solidFill>
                  <a:srgbClr val="14213D"/>
                </a:solidFill>
              </a:rPr>
              <a:t>User requirements addressed</a:t>
            </a:r>
            <a:endParaRPr lang="en-US" sz="1700" dirty="0"/>
          </a:p>
        </p:txBody>
      </p:sp>
      <p:sp>
        <p:nvSpPr>
          <p:cNvPr id="10" name="Requirements list"/>
          <p:cNvSpPr txBox="1"/>
          <p:nvPr/>
        </p:nvSpPr>
        <p:spPr>
          <a:xfrm>
            <a:off x="6995160" y="2103120"/>
            <a:ext cx="4389120" cy="3886200"/>
          </a:xfrm>
          <a:prstGeom prst="rect">
            <a:avLst/>
          </a:prstGeom>
          <a:noFill/>
          <a:ln/>
        </p:spPr>
        <p:txBody>
          <a:bodyPr wrap="square" lIns="0" tIns="0" rIns="0" bIns="0" rtlCol="0" anchor="t"/>
          <a:lstStyle/>
          <a:p>
            <a:pPr marL="190500" indent="-190500">
              <a:spcAft>
                <a:spcPts val="400"/>
              </a:spcAft>
              <a:buSzPct val="100000"/>
              <a:buChar char="•"/>
            </a:pPr>
            <a:r>
              <a:rPr lang="en-US" sz="1600" dirty="0">
                <a:solidFill>
                  <a:schemeClr val="tx1"/>
                </a:solidFill>
              </a:rPr>
              <a:t>Reads any connected database automatically  ✓</a:t>
            </a:r>
            <a:endParaRPr lang="en-US" sz="1600" dirty="0"/>
          </a:p>
          <a:p>
            <a:pPr marL="190500" indent="-190500">
              <a:spcAft>
                <a:spcPts val="400"/>
              </a:spcAft>
              <a:buSzPct val="100000"/>
              <a:buChar char="•"/>
            </a:pPr>
            <a:r>
              <a:rPr lang="en-US" sz="1600" dirty="0">
                <a:solidFill>
                  <a:schemeClr val="tx1"/>
                </a:solidFill>
              </a:rPr>
              <a:t>Labels each question’s complexity for Agent 3  ✓</a:t>
            </a:r>
            <a:endParaRPr lang="en-US" sz="1600" dirty="0"/>
          </a:p>
          <a:p>
            <a:pPr marL="190500" indent="-190500">
              <a:spcAft>
                <a:spcPts val="400"/>
              </a:spcAft>
              <a:buSzPct val="100000"/>
              <a:buChar char="•"/>
            </a:pPr>
            <a:r>
              <a:rPr lang="en-US" sz="1600" dirty="0">
                <a:solidFill>
                  <a:schemeClr val="tx1"/>
                </a:solidFill>
              </a:rPr>
              <a:t>Answers in under 0.5 s (median 0.28 s)  ✓</a:t>
            </a:r>
            <a:endParaRPr lang="en-US" sz="1600" dirty="0"/>
          </a:p>
          <a:p>
            <a:pPr marL="190500" indent="-190500">
              <a:spcAft>
                <a:spcPts val="400"/>
              </a:spcAft>
              <a:buSzPct val="100000"/>
              <a:buChar char="•"/>
            </a:pPr>
            <a:r>
              <a:rPr lang="en-US" sz="1600" dirty="0">
                <a:solidFill>
                  <a:schemeClr val="tx1"/>
                </a:solidFill>
              </a:rPr>
              <a:t>Handles 20+ tables and missing foreign keys  ✓</a:t>
            </a:r>
            <a:endParaRPr lang="en-US" sz="1600" dirty="0"/>
          </a:p>
          <a:p>
            <a:pPr marL="190500" indent="-190500">
              <a:spcAft>
                <a:spcPts val="400"/>
              </a:spcAft>
              <a:buSzPct val="100000"/>
              <a:buChar char="•"/>
            </a:pPr>
            <a:r>
              <a:rPr lang="en-US" sz="1600" dirty="0">
                <a:solidFill>
                  <a:schemeClr val="tx1"/>
                </a:solidFill>
              </a:rPr>
              <a:t>Explains why each column was kept  ✓</a:t>
            </a:r>
            <a:endParaRPr lang="en-US" sz="1600" dirty="0"/>
          </a:p>
          <a:p>
            <a:pPr marL="190500" indent="-190500">
              <a:spcAft>
                <a:spcPts val="400"/>
              </a:spcAft>
              <a:buSzPct val="100000"/>
              <a:buChar char="•"/>
            </a:pPr>
            <a:r>
              <a:rPr lang="en-US" sz="1600" dirty="0">
                <a:solidFill>
                  <a:schemeClr val="tx1"/>
                </a:solidFill>
              </a:rPr>
              <a:t>Runs standalone: Retrieval Explorer, API, command line  ✓</a:t>
            </a:r>
            <a:endParaRPr lang="en-US" sz="1600" dirty="0"/>
          </a:p>
        </p:txBody>
      </p:sp>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INDIVIDUAL COMPONENT · 2 OF 2</a:t>
            </a:r>
            <a:endParaRPr lang="en-US" sz="1200" dirty="0"/>
          </a:p>
        </p:txBody>
      </p:sp>
      <p:sp>
        <p:nvSpPr>
          <p:cNvPr id="3" name="Individual title"/>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Complexity-Adaptive Column-Level Schema Pruning for Small Language Models</a:t>
            </a:r>
            <a:endParaRPr lang="en-US" sz="2600" dirty="0"/>
          </a:p>
        </p:txBody>
      </p:sp>
      <p:sp>
        <p:nvSpPr>
          <p:cNvPr id="4" name="Contribution card"/>
          <p:cNvSpPr/>
          <p:nvPr/>
        </p:nvSpPr>
        <p:spPr>
          <a:xfrm>
            <a:off x="548640" y="1554480"/>
            <a:ext cx="6766560" cy="4526280"/>
          </a:xfrm>
          <a:prstGeom prst="roundRect">
            <a:avLst>
              <a:gd name="adj" fmla="val 1616"/>
            </a:avLst>
          </a:prstGeom>
          <a:solidFill>
            <a:srgbClr val="F3F5F8"/>
          </a:solidFill>
          <a:ln w="9525">
            <a:solidFill>
              <a:srgbClr val="D5DAE1"/>
            </a:solidFill>
            <a:prstDash val="solid"/>
          </a:ln>
        </p:spPr>
      </p:sp>
      <p:sp>
        <p:nvSpPr>
          <p:cNvPr id="5" name="Contribution heading"/>
          <p:cNvSpPr txBox="1"/>
          <p:nvPr/>
        </p:nvSpPr>
        <p:spPr>
          <a:xfrm>
            <a:off x="777240" y="1691640"/>
            <a:ext cx="6309360" cy="411480"/>
          </a:xfrm>
          <a:prstGeom prst="rect">
            <a:avLst/>
          </a:prstGeom>
          <a:noFill/>
          <a:ln/>
        </p:spPr>
        <p:txBody>
          <a:bodyPr wrap="square" lIns="0" tIns="0" rIns="0" bIns="0" rtlCol="0" anchor="ctr"/>
          <a:lstStyle/>
          <a:p>
            <a:pPr indent="0" marL="0">
              <a:buNone/>
            </a:pPr>
            <a:r>
              <a:rPr lang="en-US" sz="1700" b="1" dirty="0">
                <a:solidFill>
                  <a:srgbClr val="14213D"/>
                </a:solidFill>
              </a:rPr>
              <a:t>Design excellence / contribution</a:t>
            </a:r>
            <a:endParaRPr lang="en-US" sz="1700" dirty="0"/>
          </a:p>
        </p:txBody>
      </p:sp>
      <p:graphicFrame>
        <p:nvGraphicFramePr>
          <p:cNvPr id="7" name="Results table"/>
          <p:cNvGraphicFramePr>
            <a:graphicFrameLocks noGrp="1"/>
          </p:cNvGraphicFramePr>
          <p:nvPr>
            <p:extLst>
              <p:ext uri="{D42A27DB-BD31-4B8C-83A1-F6EECF244321}">
                <p14:modId xmlns:p14="http://schemas.microsoft.com/office/powerpoint/2010/main" val="1579011935"/>
              </p:ext>
            </p:extLst>
          </p:nvPr>
        </p:nvGraphicFramePr>
        <p:xfrm>
          <a:off x="777240" y="2103120"/>
          <a:ext cx="6309360" cy="914400"/>
        </p:xfrm>
        <a:graphic>
          <a:graphicData uri="http://schemas.openxmlformats.org/drawingml/2006/table">
            <a:tbl>
              <a:tblPr/>
              <a:tblGrid>
                <a:gridCol w="4206240"/>
                <a:gridCol w="210312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What we measured</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Result</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r>
              <a:tr h="0">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Needed columns still kept (4 databases)</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95–99%</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0">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Prompt size vs full schema</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16–24% smaller</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Question type labelled correctly</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59% → 68% *</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0">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Correct SQL on coded columns (value hints)</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12% → 56% *</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Correct SQL when schema fits the question</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44% → 52% *</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bl>
          </a:graphicData>
        </a:graphic>
      </p:graphicFrame>
      <p:sp>
        <p:nvSpPr>
          <p:cNvPr id="7" name="Results note"/>
          <p:cNvSpPr txBox="1"/>
          <p:nvPr/>
        </p:nvSpPr>
        <p:spPr>
          <a:xfrm>
            <a:off x="777240" y="4764024"/>
            <a:ext cx="6309360" cy="1188720"/>
          </a:xfrm>
          <a:prstGeom prst="rect">
            <a:avLst/>
          </a:prstGeom>
          <a:noFill/>
          <a:ln/>
        </p:spPr>
        <p:txBody>
          <a:bodyPr wrap="square" lIns="0" tIns="0" rIns="0" bIns="0" rtlCol="0" anchor="t"/>
          <a:lstStyle/>
          <a:p>
            <a:pPr indent="0" marL="0">
              <a:buNone/>
            </a:pPr>
            <a:r>
              <a:rPr lang="en-US" sz="1400" dirty="0">
                <a:solidFill>
                  <a:srgbClr val="4B5563"/>
                </a:solidFill>
              </a:rPr>
              <a:t>* Real gain, very unlikely to be chance (p &lt; 0.05). Pruning alone keeps accuracy the same (43% vs 41%) with smaller prompts. 66 automated tests pass.</a:t>
            </a:r>
            <a:endParaRPr lang="en-US" sz="1400" dirty="0"/>
          </a:p>
        </p:txBody>
      </p:sp>
      <p:sp>
        <p:nvSpPr>
          <p:cNvPr id="8" name="Feedback card"/>
          <p:cNvSpPr/>
          <p:nvPr/>
        </p:nvSpPr>
        <p:spPr>
          <a:xfrm>
            <a:off x="7498080" y="1554480"/>
            <a:ext cx="4114800" cy="4526280"/>
          </a:xfrm>
          <a:prstGeom prst="roundRect">
            <a:avLst>
              <a:gd name="adj" fmla="val 1778"/>
            </a:avLst>
          </a:prstGeom>
          <a:solidFill>
            <a:srgbClr val="F3F5F8"/>
          </a:solidFill>
          <a:ln w="9525">
            <a:solidFill>
              <a:srgbClr val="D5DAE1"/>
            </a:solidFill>
            <a:prstDash val="solid"/>
          </a:ln>
        </p:spPr>
      </p:sp>
      <p:sp>
        <p:nvSpPr>
          <p:cNvPr id="9" name="Feedback heading"/>
          <p:cNvSpPr txBox="1"/>
          <p:nvPr/>
        </p:nvSpPr>
        <p:spPr>
          <a:xfrm>
            <a:off x="7726680" y="1691640"/>
            <a:ext cx="3657600" cy="411480"/>
          </a:xfrm>
          <a:prstGeom prst="rect">
            <a:avLst/>
          </a:prstGeom>
          <a:noFill/>
          <a:ln/>
        </p:spPr>
        <p:txBody>
          <a:bodyPr wrap="square" lIns="0" tIns="0" rIns="0" bIns="0" rtlCol="0" anchor="ctr"/>
          <a:lstStyle/>
          <a:p>
            <a:pPr indent="0" marL="0">
              <a:buNone/>
            </a:pPr>
            <a:r>
              <a:rPr lang="en-US" sz="1700" b="1" dirty="0">
                <a:solidFill>
                  <a:srgbClr val="14213D"/>
                </a:solidFill>
              </a:rPr>
              <a:t>User feedback on prototype</a:t>
            </a:r>
            <a:endParaRPr lang="en-US" sz="1700" dirty="0"/>
          </a:p>
        </p:txBody>
      </p:sp>
      <p:sp>
        <p:nvSpPr>
          <p:cNvPr id="10" name="Feedback placeholder box"/>
          <p:cNvSpPr/>
          <p:nvPr/>
        </p:nvSpPr>
        <p:spPr>
          <a:xfrm>
            <a:off x="7726680" y="2103120"/>
            <a:ext cx="3657600" cy="1737360"/>
          </a:xfrm>
          <a:prstGeom prst="roundRect">
            <a:avLst>
              <a:gd name="adj" fmla="val 3158"/>
            </a:avLst>
          </a:prstGeom>
          <a:solidFill>
            <a:srgbClr val="FBEFE6"/>
          </a:solidFill>
          <a:ln w="9525">
            <a:solidFill>
              <a:srgbClr val="E8C9AE"/>
            </a:solidFill>
            <a:prstDash val="solid"/>
          </a:ln>
        </p:spPr>
      </p:sp>
      <p:sp>
        <p:nvSpPr>
          <p:cNvPr id="11" name="Feedback placeholder"/>
          <p:cNvSpPr txBox="1"/>
          <p:nvPr/>
        </p:nvSpPr>
        <p:spPr>
          <a:xfrm>
            <a:off x="7863840" y="2194560"/>
            <a:ext cx="3383280" cy="1554480"/>
          </a:xfrm>
          <a:prstGeom prst="rect">
            <a:avLst/>
          </a:prstGeom>
          <a:noFill/>
          <a:ln/>
        </p:spPr>
        <p:txBody>
          <a:bodyPr wrap="square" lIns="0" tIns="0" rIns="0" bIns="0" rtlCol="0" anchor="t"/>
          <a:lstStyle/>
          <a:p>
            <a:pPr indent="0" marL="0">
              <a:buNone/>
            </a:pPr>
            <a:r>
              <a:rPr lang="en-US" sz="1500" dirty="0">
                <a:solidFill>
                  <a:srgbClr val="7A4310"/>
                </a:solidFill>
              </a:rPr>
              <a:t>Add real feedback: who tried the prototype, which task, where they struggled, and what you changed. Do not invent it.</a:t>
            </a:r>
            <a:endParaRPr lang="en-US" sz="1500" dirty="0"/>
          </a:p>
        </p:txBody>
      </p:sp>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hoto frame"/>
          <p:cNvSpPr/>
          <p:nvPr/>
        </p:nvSpPr>
        <p:spPr>
          <a:xfrm>
            <a:off x="9418320" y="320040"/>
            <a:ext cx="2377440" cy="2834640"/>
          </a:xfrm>
          <a:prstGeom prst="rect">
            <a:avLst/>
          </a:prstGeom>
          <a:solidFill>
            <a:srgbClr val="111111"/>
          </a:solidFill>
          <a:ln w="12700">
            <a:solidFill>
              <a:srgbClr val="111111"/>
            </a:solidFill>
            <a:prstDash val="solid"/>
          </a:ln>
        </p:spPr>
      </p:sp>
      <p:sp>
        <p:nvSpPr>
          <p:cNvPr id="3" name="Photo prompt"/>
          <p:cNvSpPr txBox="1"/>
          <p:nvPr/>
        </p:nvSpPr>
        <p:spPr>
          <a:xfrm>
            <a:off x="9555480" y="1371600"/>
            <a:ext cx="2103120" cy="731520"/>
          </a:xfrm>
          <a:prstGeom prst="rect">
            <a:avLst/>
          </a:prstGeom>
          <a:noFill/>
          <a:ln/>
        </p:spPr>
        <p:txBody>
          <a:bodyPr wrap="square" lIns="0" tIns="0" rIns="0" bIns="0" rtlCol="0" anchor="ctr"/>
          <a:lstStyle/>
          <a:p>
            <a:pPr algn="ctr" indent="0" marL="0">
              <a:buNone/>
            </a:pPr>
            <a:r>
              <a:rPr lang="en-US" sz="1300" dirty="0">
                <a:solidFill>
                  <a:srgbClr val="FFFFFF"/>
                </a:solidFill>
              </a:rPr>
              <a:t>Add a professional photo here</a:t>
            </a:r>
            <a:endParaRPr lang="en-US" sz="1300" dirty="0"/>
          </a:p>
        </p:txBody>
      </p:sp>
      <p:sp>
        <p:nvSpPr>
          <p:cNvPr id="4" name="Title label"/>
          <p:cNvSpPr txBox="1"/>
          <p:nvPr/>
        </p:nvSpPr>
        <p:spPr>
          <a:xfrm>
            <a:off x="548640" y="3520440"/>
            <a:ext cx="8229600" cy="365760"/>
          </a:xfrm>
          <a:prstGeom prst="rect">
            <a:avLst/>
          </a:prstGeom>
          <a:noFill/>
          <a:ln/>
        </p:spPr>
        <p:txBody>
          <a:bodyPr wrap="square" lIns="0" tIns="0" rIns="0" bIns="0" rtlCol="0" anchor="ctr"/>
          <a:lstStyle/>
          <a:p>
            <a:pPr indent="0" marL="0">
              <a:buNone/>
            </a:pPr>
            <a:r>
              <a:rPr lang="en-US" sz="1400" b="1" spc="100" kern="0" dirty="0">
                <a:solidFill>
                  <a:schemeClr val="accent1"/>
                </a:solidFill>
              </a:rPr>
              <a:t>Title of the individual component</a:t>
            </a:r>
            <a:endParaRPr lang="en-US" sz="1400" dirty="0"/>
          </a:p>
        </p:txBody>
      </p:sp>
      <p:sp>
        <p:nvSpPr>
          <p:cNvPr id="5" name="Individual title"/>
          <p:cNvSpPr txBox="1"/>
          <p:nvPr/>
        </p:nvSpPr>
        <p:spPr>
          <a:xfrm>
            <a:off x="548640" y="3931920"/>
            <a:ext cx="10515600" cy="1280160"/>
          </a:xfrm>
          <a:prstGeom prst="rect">
            <a:avLst/>
          </a:prstGeom>
          <a:noFill/>
          <a:ln/>
        </p:spPr>
        <p:txBody>
          <a:bodyPr wrap="square" lIns="0" tIns="0" rIns="0" bIns="0" rtlCol="0" anchor="t"/>
          <a:lstStyle/>
          <a:p>
            <a:pPr indent="0" marL="0">
              <a:buNone/>
            </a:pPr>
            <a:r>
              <a:rPr lang="en-US" sz="3400" b="1" dirty="0">
                <a:solidFill>
                  <a:schemeClr val="tx2"/>
                </a:solidFill>
                <a:latin typeface="Cambria" pitchFamily="34" charset="0"/>
                <a:ea typeface="Cambria" pitchFamily="34" charset="-122"/>
                <a:cs typeface="Cambria" pitchFamily="34" charset="-120"/>
              </a:rPr>
              <a:t>Knowledge-Distilled Small Foundation Model and Question Gate</a:t>
            </a:r>
            <a:endParaRPr lang="en-US" sz="3400" dirty="0"/>
          </a:p>
        </p:txBody>
      </p:sp>
      <p:sp>
        <p:nvSpPr>
          <p:cNvPr id="6" name="Specialization"/>
          <p:cNvSpPr txBox="1"/>
          <p:nvPr/>
        </p:nvSpPr>
        <p:spPr>
          <a:xfrm>
            <a:off x="548640" y="5440680"/>
            <a:ext cx="7315200" cy="411480"/>
          </a:xfrm>
          <a:prstGeom prst="rect">
            <a:avLst/>
          </a:prstGeom>
          <a:noFill/>
          <a:ln/>
        </p:spPr>
        <p:txBody>
          <a:bodyPr wrap="square" lIns="0" tIns="0" rIns="0" bIns="0" rtlCol="0" anchor="ctr"/>
          <a:lstStyle/>
          <a:p>
            <a:pPr indent="0" marL="0">
              <a:buNone/>
            </a:pPr>
            <a:r>
              <a:rPr lang="en-US" sz="1800" b="1" dirty="0">
                <a:solidFill>
                  <a:schemeClr val="tx1"/>
                </a:solidFill>
              </a:rPr>
              <a:t>Specialization: </a:t>
            </a:r>
            <a:pPr indent="0" marL="0">
              <a:buNone/>
            </a:pPr>
            <a:r>
              <a:rPr lang="en-US" sz="1800" dirty="0">
                <a:solidFill>
                  <a:schemeClr val="tx1"/>
                </a:solidFill>
              </a:rPr>
              <a:t>Data Science</a:t>
            </a:r>
            <a:endParaRPr lang="en-US" sz="1800" dirty="0"/>
          </a:p>
        </p:txBody>
      </p:sp>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INDIVIDUAL COMPONENT · 1 OF 2</a:t>
            </a:r>
            <a:endParaRPr lang="en-US" sz="1200" dirty="0"/>
          </a:p>
        </p:txBody>
      </p:sp>
      <p:sp>
        <p:nvSpPr>
          <p:cNvPr id="3" name="Individual title"/>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Knowledge-Distilled Small Foundation Model and Question Gate</a:t>
            </a:r>
            <a:endParaRPr lang="en-US" sz="2600" dirty="0"/>
          </a:p>
        </p:txBody>
      </p:sp>
      <p:sp>
        <p:nvSpPr>
          <p:cNvPr id="4" name="Prototype card"/>
          <p:cNvSpPr/>
          <p:nvPr/>
        </p:nvSpPr>
        <p:spPr>
          <a:xfrm>
            <a:off x="548640" y="1554480"/>
            <a:ext cx="6035040" cy="4526280"/>
          </a:xfrm>
          <a:prstGeom prst="roundRect">
            <a:avLst>
              <a:gd name="adj" fmla="val 1616"/>
            </a:avLst>
          </a:prstGeom>
          <a:solidFill>
            <a:srgbClr val="F3F5F8"/>
          </a:solidFill>
          <a:ln w="9525">
            <a:solidFill>
              <a:srgbClr val="D5DAE1"/>
            </a:solidFill>
            <a:prstDash val="solid"/>
          </a:ln>
        </p:spPr>
      </p:sp>
      <p:sp>
        <p:nvSpPr>
          <p:cNvPr id="5" name="Prototype heading"/>
          <p:cNvSpPr txBox="1"/>
          <p:nvPr/>
        </p:nvSpPr>
        <p:spPr>
          <a:xfrm>
            <a:off x="777240" y="1691640"/>
            <a:ext cx="5577840" cy="411480"/>
          </a:xfrm>
          <a:prstGeom prst="rect">
            <a:avLst/>
          </a:prstGeom>
          <a:noFill/>
          <a:ln/>
        </p:spPr>
        <p:txBody>
          <a:bodyPr wrap="square" lIns="0" tIns="0" rIns="0" bIns="0" rtlCol="0" anchor="ctr"/>
          <a:lstStyle/>
          <a:p>
            <a:pPr indent="0" marL="0">
              <a:buNone/>
            </a:pPr>
            <a:r>
              <a:rPr lang="en-US" sz="1700" b="1" dirty="0">
                <a:solidFill>
                  <a:srgbClr val="14213D"/>
                </a:solidFill>
              </a:rPr>
              <a:t>How the solution addresses the sub-problem (prototype)</a:t>
            </a:r>
            <a:endParaRPr lang="en-US" sz="1700" dirty="0"/>
          </a:p>
        </p:txBody>
      </p:sp>
      <p:sp>
        <p:nvSpPr>
          <p:cNvPr id="6" name="Sub-problem"/>
          <p:cNvSpPr txBox="1"/>
          <p:nvPr/>
        </p:nvSpPr>
        <p:spPr>
          <a:xfrm>
            <a:off x="777240" y="2057400"/>
            <a:ext cx="5577840" cy="868680"/>
          </a:xfrm>
          <a:prstGeom prst="rect">
            <a:avLst/>
          </a:prstGeom>
          <a:noFill/>
          <a:ln/>
        </p:spPr>
        <p:txBody>
          <a:bodyPr wrap="square" lIns="0" tIns="0" rIns="0" bIns="0" rtlCol="0" anchor="t"/>
          <a:lstStyle/>
          <a:p>
            <a:pPr indent="0" marL="0">
              <a:buNone/>
            </a:pPr>
            <a:r>
              <a:rPr lang="en-US" sz="1500" i="1" dirty="0">
                <a:solidFill>
                  <a:srgbClr val="4B5563"/>
                </a:solidFill>
              </a:rPr>
              <a:t>Sub-problem: small models are weak at harder judgements. Can a large teacher make a same-size small model better?</a:t>
            </a:r>
            <a:endParaRPr lang="en-US" sz="1500" dirty="0"/>
          </a:p>
        </p:txBody>
      </p:sp>
      <p:sp>
        <p:nvSpPr>
          <p:cNvPr id="7" name="Prototype steps"/>
          <p:cNvSpPr txBox="1"/>
          <p:nvPr/>
        </p:nvSpPr>
        <p:spPr>
          <a:xfrm>
            <a:off x="777240" y="3017520"/>
            <a:ext cx="5577840" cy="2971800"/>
          </a:xfrm>
          <a:prstGeom prst="rect">
            <a:avLst/>
          </a:prstGeom>
          <a:noFill/>
          <a:ln/>
        </p:spPr>
        <p:txBody>
          <a:bodyPr wrap="square" lIns="0" tIns="0" rIns="0" bIns="0" rtlCol="0" anchor="t"/>
          <a:lstStyle/>
          <a:p>
            <a:pPr marL="190500" indent="-190500">
              <a:spcAft>
                <a:spcPts val="400"/>
              </a:spcAft>
              <a:buSzPct val="100000"/>
              <a:buChar char="•"/>
            </a:pPr>
            <a:r>
              <a:rPr lang="en-US" sz="1600" b="1" dirty="0">
                <a:solidFill>
                  <a:schemeClr val="tx1"/>
                </a:solidFill>
              </a:rPr>
              <a:t>Teacher: </a:t>
            </a:r>
            <a:pPr indent="0" marL="0">
              <a:spcAft>
                <a:spcPts val="400"/>
              </a:spcAft>
              <a:buNone/>
            </a:pPr>
            <a:r>
              <a:rPr lang="en-US" sz="1600" dirty="0">
                <a:solidFill>
                  <a:schemeClr val="tx1"/>
                </a:solidFill>
              </a:rPr>
              <a:t>Qwen2.5-7B, fine-tuned on the tasks first</a:t>
            </a:r>
            <a:endParaRPr lang="en-US" sz="1600" dirty="0"/>
          </a:p>
          <a:p>
            <a:pPr marL="190500" indent="-190500">
              <a:spcAft>
                <a:spcPts val="400"/>
              </a:spcAft>
              <a:buSzPct val="100000"/>
              <a:buChar char="•"/>
            </a:pPr>
            <a:r>
              <a:rPr lang="en-US" sz="1600" b="1" dirty="0">
                <a:solidFill>
                  <a:schemeClr val="tx1"/>
                </a:solidFill>
              </a:rPr>
              <a:t>Training data: </a:t>
            </a:r>
            <a:pPr indent="0" marL="0">
              <a:spcAft>
                <a:spcPts val="400"/>
              </a:spcAft>
              <a:buNone/>
            </a:pPr>
            <a:r>
              <a:rPr lang="en-US" sz="1600" dirty="0">
                <a:solidFill>
                  <a:schemeClr val="tx1"/>
                </a:solidFill>
              </a:rPr>
              <a:t>database or general question (4,000); attack prompt or safe (436)</a:t>
            </a:r>
            <a:endParaRPr lang="en-US" sz="1600" dirty="0"/>
          </a:p>
          <a:p>
            <a:pPr marL="190500" indent="-190500">
              <a:spcAft>
                <a:spcPts val="400"/>
              </a:spcAft>
              <a:buSzPct val="100000"/>
              <a:buChar char="•"/>
            </a:pPr>
            <a:r>
              <a:rPr lang="en-US" sz="1600" b="1" dirty="0">
                <a:solidFill>
                  <a:schemeClr val="tx1"/>
                </a:solidFill>
              </a:rPr>
              <a:t>Student: </a:t>
            </a:r>
            <a:pPr indent="0" marL="0">
              <a:spcAft>
                <a:spcPts val="400"/>
              </a:spcAft>
              <a:buNone/>
            </a:pPr>
            <a:r>
              <a:rPr lang="en-US" sz="1600" dirty="0">
                <a:solidFill>
                  <a:schemeClr val="tx1"/>
                </a:solidFill>
              </a:rPr>
              <a:t>Qwen2.5-1.5B learns from the teacher</a:t>
            </a:r>
            <a:endParaRPr lang="en-US" sz="1600" dirty="0"/>
          </a:p>
          <a:p>
            <a:pPr marL="190500" indent="-190500">
              <a:spcAft>
                <a:spcPts val="400"/>
              </a:spcAft>
              <a:buSzPct val="100000"/>
              <a:buChar char="•"/>
            </a:pPr>
            <a:r>
              <a:rPr lang="en-US" sz="1600" b="1" dirty="0">
                <a:solidFill>
                  <a:schemeClr val="tx1"/>
                </a:solidFill>
              </a:rPr>
              <a:t>Control: </a:t>
            </a:r>
            <a:pPr indent="0" marL="0">
              <a:spcAft>
                <a:spcPts val="400"/>
              </a:spcAft>
              <a:buNone/>
            </a:pPr>
            <a:r>
              <a:rPr lang="en-US" sz="1600" dirty="0">
                <a:solidFill>
                  <a:schemeClr val="tx1"/>
                </a:solidFill>
              </a:rPr>
              <a:t>the same 1.5B model trained without the teacher</a:t>
            </a:r>
            <a:endParaRPr lang="en-US" sz="1600" dirty="0"/>
          </a:p>
          <a:p>
            <a:pPr marL="190500" indent="-190500">
              <a:spcAft>
                <a:spcPts val="400"/>
              </a:spcAft>
              <a:buSzPct val="100000"/>
              <a:buChar char="•"/>
            </a:pPr>
            <a:r>
              <a:rPr lang="en-US" sz="1600" b="1" dirty="0">
                <a:solidFill>
                  <a:schemeClr val="tx1"/>
                </a:solidFill>
              </a:rPr>
              <a:t>Live: </a:t>
            </a:r>
            <a:pPr indent="0" marL="0">
              <a:spcAft>
                <a:spcPts val="400"/>
              </a:spcAft>
              <a:buNone/>
            </a:pPr>
            <a:r>
              <a:rPr lang="en-US" sz="1600" dirty="0">
                <a:solidFill>
                  <a:schemeClr val="tx1"/>
                </a:solidFill>
              </a:rPr>
              <a:t>the student is the app’s question gate, with Agent 1’s word check</a:t>
            </a:r>
            <a:endParaRPr lang="en-US" sz="1600" dirty="0"/>
          </a:p>
        </p:txBody>
      </p:sp>
      <p:sp>
        <p:nvSpPr>
          <p:cNvPr id="8" name="Requirements card"/>
          <p:cNvSpPr/>
          <p:nvPr/>
        </p:nvSpPr>
        <p:spPr>
          <a:xfrm>
            <a:off x="6766560" y="1554480"/>
            <a:ext cx="4846320" cy="4526280"/>
          </a:xfrm>
          <a:prstGeom prst="roundRect">
            <a:avLst>
              <a:gd name="adj" fmla="val 1616"/>
            </a:avLst>
          </a:prstGeom>
          <a:solidFill>
            <a:srgbClr val="F3F5F8"/>
          </a:solidFill>
          <a:ln w="9525">
            <a:solidFill>
              <a:srgbClr val="D5DAE1"/>
            </a:solidFill>
            <a:prstDash val="solid"/>
          </a:ln>
        </p:spPr>
      </p:sp>
      <p:sp>
        <p:nvSpPr>
          <p:cNvPr id="9" name="Requirements heading"/>
          <p:cNvSpPr txBox="1"/>
          <p:nvPr/>
        </p:nvSpPr>
        <p:spPr>
          <a:xfrm>
            <a:off x="6995160" y="1691640"/>
            <a:ext cx="4389120" cy="411480"/>
          </a:xfrm>
          <a:prstGeom prst="rect">
            <a:avLst/>
          </a:prstGeom>
          <a:noFill/>
          <a:ln/>
        </p:spPr>
        <p:txBody>
          <a:bodyPr wrap="square" lIns="0" tIns="0" rIns="0" bIns="0" rtlCol="0" anchor="ctr"/>
          <a:lstStyle/>
          <a:p>
            <a:pPr indent="0" marL="0">
              <a:buNone/>
            </a:pPr>
            <a:r>
              <a:rPr lang="en-US" sz="1700" b="1" dirty="0">
                <a:solidFill>
                  <a:srgbClr val="14213D"/>
                </a:solidFill>
              </a:rPr>
              <a:t>User requirements addressed</a:t>
            </a:r>
            <a:endParaRPr lang="en-US" sz="1700" dirty="0"/>
          </a:p>
        </p:txBody>
      </p:sp>
      <p:sp>
        <p:nvSpPr>
          <p:cNvPr id="10" name="Requirements list"/>
          <p:cNvSpPr txBox="1"/>
          <p:nvPr/>
        </p:nvSpPr>
        <p:spPr>
          <a:xfrm>
            <a:off x="6995160" y="2103120"/>
            <a:ext cx="4389120" cy="3886200"/>
          </a:xfrm>
          <a:prstGeom prst="rect">
            <a:avLst/>
          </a:prstGeom>
          <a:noFill/>
          <a:ln/>
        </p:spPr>
        <p:txBody>
          <a:bodyPr wrap="square" lIns="0" tIns="0" rIns="0" bIns="0" rtlCol="0" anchor="t"/>
          <a:lstStyle/>
          <a:p>
            <a:pPr marL="190500" indent="-190500">
              <a:spcAft>
                <a:spcPts val="400"/>
              </a:spcAft>
              <a:buSzPct val="100000"/>
              <a:buChar char="•"/>
            </a:pPr>
            <a:r>
              <a:rPr lang="en-US" sz="1600" dirty="0">
                <a:solidFill>
                  <a:schemeClr val="tx1"/>
                </a:solidFill>
              </a:rPr>
              <a:t>Teacher-generated training data  ✓</a:t>
            </a:r>
            <a:endParaRPr lang="en-US" sz="1600" dirty="0"/>
          </a:p>
          <a:p>
            <a:pPr marL="190500" indent="-190500">
              <a:spcAft>
                <a:spcPts val="400"/>
              </a:spcAft>
              <a:buSzPct val="100000"/>
              <a:buChar char="•"/>
            </a:pPr>
            <a:r>
              <a:rPr lang="en-US" sz="1600" dirty="0">
                <a:solidFill>
                  <a:schemeClr val="tx1"/>
                </a:solidFill>
              </a:rPr>
              <a:t>Same-size model for a fair comparison  ✓</a:t>
            </a:r>
            <a:endParaRPr lang="en-US" sz="1600" dirty="0"/>
          </a:p>
          <a:p>
            <a:pPr marL="190500" indent="-190500">
              <a:spcAft>
                <a:spcPts val="400"/>
              </a:spcAft>
              <a:buSzPct val="100000"/>
              <a:buChar char="•"/>
            </a:pPr>
            <a:r>
              <a:rPr lang="en-US" sz="1600" dirty="0">
                <a:solidFill>
                  <a:schemeClr val="tx1"/>
                </a:solidFill>
              </a:rPr>
              <a:t>Model delivered in a form the app loads  ✓</a:t>
            </a:r>
            <a:endParaRPr lang="en-US" sz="1600" dirty="0"/>
          </a:p>
          <a:p>
            <a:pPr marL="190500" indent="-190500">
              <a:spcAft>
                <a:spcPts val="400"/>
              </a:spcAft>
              <a:buSzPct val="100000"/>
              <a:buChar char="•"/>
            </a:pPr>
            <a:r>
              <a:rPr lang="en-US" sz="1600" dirty="0">
                <a:solidFill>
                  <a:schemeClr val="tx1"/>
                </a:solidFill>
              </a:rPr>
              <a:t>Declines off-topic questions before any SQL: 0 of 224 real questions wrongly declined, about 0.2 s each  ✓</a:t>
            </a:r>
            <a:endParaRPr lang="en-US" sz="1600" dirty="0"/>
          </a:p>
          <a:p>
            <a:pPr marL="190500" indent="-190500">
              <a:spcAft>
                <a:spcPts val="400"/>
              </a:spcAft>
              <a:buSzPct val="100000"/>
              <a:buChar char="•"/>
            </a:pPr>
            <a:r>
              <a:rPr lang="en-US" sz="1600" dirty="0">
                <a:solidFill>
                  <a:schemeClr val="tx1"/>
                </a:solidFill>
              </a:rPr>
              <a:t>Planned: prompt-injection check in the app</a:t>
            </a:r>
            <a:endParaRPr lang="en-US" sz="1600" dirty="0"/>
          </a:p>
          <a:p>
            <a:pPr marL="190500" indent="-190500">
              <a:spcAft>
                <a:spcPts val="400"/>
              </a:spcAft>
              <a:buSzPct val="100000"/>
              <a:buChar char="•"/>
            </a:pPr>
            <a:r>
              <a:rPr lang="en-US" sz="1600" dirty="0">
                <a:solidFill>
                  <a:schemeClr val="tx1"/>
                </a:solidFill>
              </a:rPr>
              <a:t>Planned: distilled SQL base model for Agent 3</a:t>
            </a:r>
            <a:endParaRPr lang="en-US" sz="1600" dirty="0"/>
          </a:p>
        </p:txBody>
      </p:sp>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INDIVIDUAL COMPONENT · 2 OF 2</a:t>
            </a:r>
            <a:endParaRPr lang="en-US" sz="1200" dirty="0"/>
          </a:p>
        </p:txBody>
      </p:sp>
      <p:sp>
        <p:nvSpPr>
          <p:cNvPr id="3" name="Individual title"/>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Knowledge-Distilled Small Foundation Model and Question Gate</a:t>
            </a:r>
            <a:endParaRPr lang="en-US" sz="2600" dirty="0"/>
          </a:p>
        </p:txBody>
      </p:sp>
      <p:sp>
        <p:nvSpPr>
          <p:cNvPr id="4" name="Contribution card"/>
          <p:cNvSpPr/>
          <p:nvPr/>
        </p:nvSpPr>
        <p:spPr>
          <a:xfrm>
            <a:off x="548640" y="1554480"/>
            <a:ext cx="6766560" cy="4526280"/>
          </a:xfrm>
          <a:prstGeom prst="roundRect">
            <a:avLst>
              <a:gd name="adj" fmla="val 1616"/>
            </a:avLst>
          </a:prstGeom>
          <a:solidFill>
            <a:srgbClr val="F3F5F8"/>
          </a:solidFill>
          <a:ln w="9525">
            <a:solidFill>
              <a:srgbClr val="D5DAE1"/>
            </a:solidFill>
            <a:prstDash val="solid"/>
          </a:ln>
        </p:spPr>
      </p:sp>
      <p:sp>
        <p:nvSpPr>
          <p:cNvPr id="5" name="Contribution heading"/>
          <p:cNvSpPr txBox="1"/>
          <p:nvPr/>
        </p:nvSpPr>
        <p:spPr>
          <a:xfrm>
            <a:off x="777240" y="1691640"/>
            <a:ext cx="6309360" cy="411480"/>
          </a:xfrm>
          <a:prstGeom prst="rect">
            <a:avLst/>
          </a:prstGeom>
          <a:noFill/>
          <a:ln/>
        </p:spPr>
        <p:txBody>
          <a:bodyPr wrap="square" lIns="0" tIns="0" rIns="0" bIns="0" rtlCol="0" anchor="ctr"/>
          <a:lstStyle/>
          <a:p>
            <a:pPr indent="0" marL="0">
              <a:buNone/>
            </a:pPr>
            <a:r>
              <a:rPr lang="en-US" sz="1700" b="1" dirty="0">
                <a:solidFill>
                  <a:srgbClr val="14213D"/>
                </a:solidFill>
              </a:rPr>
              <a:t>Design excellence / contribution</a:t>
            </a:r>
            <a:endParaRPr lang="en-US" sz="1700" dirty="0"/>
          </a:p>
        </p:txBody>
      </p:sp>
      <p:graphicFrame>
        <p:nvGraphicFramePr>
          <p:cNvPr id="10" name="Results table"/>
          <p:cNvGraphicFramePr>
            <a:graphicFrameLocks noGrp="1"/>
          </p:cNvGraphicFramePr>
          <p:nvPr>
            <p:extLst>
              <p:ext uri="{D42A27DB-BD31-4B8C-83A1-F6EECF244321}">
                <p14:modId xmlns:p14="http://schemas.microsoft.com/office/powerpoint/2010/main" val="1579011935"/>
              </p:ext>
            </p:extLst>
          </p:nvPr>
        </p:nvGraphicFramePr>
        <p:xfrm>
          <a:off x="777240" y="2103120"/>
          <a:ext cx="6309360" cy="914400"/>
        </p:xfrm>
        <a:graphic>
          <a:graphicData uri="http://schemas.openxmlformats.org/drawingml/2006/table">
            <a:tbl>
              <a:tblPr/>
              <a:tblGrid>
                <a:gridCol w="2286000"/>
                <a:gridCol w="1325880"/>
                <a:gridCol w="1325880"/>
                <a:gridCol w="137160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Test (items)</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Without teacher</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With teacher</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Real gain?</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r>
              <a:tr h="0">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Database question? (1,200)</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98.8%</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99.4%</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No (p = .12)</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0">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Attack prompt? (116)</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83.6%</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600" b="1" dirty="0">
                          <a:solidFill>
                            <a:srgbClr val="1F2937"/>
                          </a:solidFill>
                          <a:latin typeface="Calibri" pitchFamily="34" charset="0"/>
                          <a:ea typeface="Calibri" pitchFamily="34" charset="-122"/>
                          <a:cs typeface="Calibri" pitchFamily="34" charset="-120"/>
                        </a:rPr>
                        <a:t>94.8%</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600" b="1" dirty="0">
                          <a:solidFill>
                            <a:srgbClr val="1F2937"/>
                          </a:solidFill>
                          <a:latin typeface="Calibri" pitchFamily="34" charset="0"/>
                          <a:ea typeface="Calibri" pitchFamily="34" charset="-122"/>
                          <a:cs typeface="Calibri" pitchFamily="34" charset="-120"/>
                        </a:rPr>
                        <a:t>Yes (p = .004)</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7" name="Results note"/>
          <p:cNvSpPr txBox="1"/>
          <p:nvPr/>
        </p:nvSpPr>
        <p:spPr>
          <a:xfrm>
            <a:off x="777240" y="4297680"/>
            <a:ext cx="6309360" cy="1188720"/>
          </a:xfrm>
          <a:prstGeom prst="rect">
            <a:avLst/>
          </a:prstGeom>
          <a:noFill/>
          <a:ln/>
        </p:spPr>
        <p:txBody>
          <a:bodyPr wrap="square" lIns="0" tIns="0" rIns="0" bIns="0" rtlCol="0" anchor="t"/>
          <a:lstStyle/>
          <a:p>
            <a:pPr indent="0" marL="0">
              <a:buNone/>
            </a:pPr>
            <a:r>
              <a:rPr lang="en-US" sz="1400" dirty="0">
                <a:solidFill>
                  <a:srgbClr val="4B5563"/>
                </a:solidFill>
              </a:rPr>
              <a:t>% = items labelled correctly. Easy test: both near 100%. Hard test: 11 points better with the teacher, very unlikely to be chance. Distillation helps where the task is hard.</a:t>
            </a:r>
            <a:endParaRPr lang="en-US" sz="1400" dirty="0"/>
          </a:p>
        </p:txBody>
      </p:sp>
      <p:sp>
        <p:nvSpPr>
          <p:cNvPr id="8" name="Feedback card"/>
          <p:cNvSpPr/>
          <p:nvPr/>
        </p:nvSpPr>
        <p:spPr>
          <a:xfrm>
            <a:off x="7498080" y="1554480"/>
            <a:ext cx="4114800" cy="4526280"/>
          </a:xfrm>
          <a:prstGeom prst="roundRect">
            <a:avLst>
              <a:gd name="adj" fmla="val 1778"/>
            </a:avLst>
          </a:prstGeom>
          <a:solidFill>
            <a:srgbClr val="F3F5F8"/>
          </a:solidFill>
          <a:ln w="9525">
            <a:solidFill>
              <a:srgbClr val="D5DAE1"/>
            </a:solidFill>
            <a:prstDash val="solid"/>
          </a:ln>
        </p:spPr>
      </p:sp>
      <p:sp>
        <p:nvSpPr>
          <p:cNvPr id="9" name="Feedback heading"/>
          <p:cNvSpPr txBox="1"/>
          <p:nvPr/>
        </p:nvSpPr>
        <p:spPr>
          <a:xfrm>
            <a:off x="7726680" y="1691640"/>
            <a:ext cx="3657600" cy="411480"/>
          </a:xfrm>
          <a:prstGeom prst="rect">
            <a:avLst/>
          </a:prstGeom>
          <a:noFill/>
          <a:ln/>
        </p:spPr>
        <p:txBody>
          <a:bodyPr wrap="square" lIns="0" tIns="0" rIns="0" bIns="0" rtlCol="0" anchor="ctr"/>
          <a:lstStyle/>
          <a:p>
            <a:pPr indent="0" marL="0">
              <a:buNone/>
            </a:pPr>
            <a:r>
              <a:rPr lang="en-US" sz="1700" b="1" dirty="0">
                <a:solidFill>
                  <a:srgbClr val="14213D"/>
                </a:solidFill>
              </a:rPr>
              <a:t>User feedback on prototype</a:t>
            </a:r>
            <a:endParaRPr lang="en-US" sz="1700" dirty="0"/>
          </a:p>
        </p:txBody>
      </p:sp>
      <p:sp>
        <p:nvSpPr>
          <p:cNvPr id="10" name="Feedback placeholder box"/>
          <p:cNvSpPr/>
          <p:nvPr/>
        </p:nvSpPr>
        <p:spPr>
          <a:xfrm>
            <a:off x="7726680" y="2103120"/>
            <a:ext cx="3657600" cy="1737360"/>
          </a:xfrm>
          <a:prstGeom prst="roundRect">
            <a:avLst>
              <a:gd name="adj" fmla="val 3158"/>
            </a:avLst>
          </a:prstGeom>
          <a:solidFill>
            <a:srgbClr val="FBEFE6"/>
          </a:solidFill>
          <a:ln w="9525">
            <a:solidFill>
              <a:srgbClr val="E8C9AE"/>
            </a:solidFill>
            <a:prstDash val="solid"/>
          </a:ln>
        </p:spPr>
      </p:sp>
      <p:sp>
        <p:nvSpPr>
          <p:cNvPr id="11" name="Feedback placeholder"/>
          <p:cNvSpPr txBox="1"/>
          <p:nvPr/>
        </p:nvSpPr>
        <p:spPr>
          <a:xfrm>
            <a:off x="7863840" y="2194560"/>
            <a:ext cx="3383280" cy="1554480"/>
          </a:xfrm>
          <a:prstGeom prst="rect">
            <a:avLst/>
          </a:prstGeom>
          <a:noFill/>
          <a:ln/>
        </p:spPr>
        <p:txBody>
          <a:bodyPr wrap="square" lIns="0" tIns="0" rIns="0" bIns="0" rtlCol="0" anchor="t"/>
          <a:lstStyle/>
          <a:p>
            <a:pPr indent="0" marL="0">
              <a:buNone/>
            </a:pPr>
            <a:r>
              <a:rPr lang="en-US" sz="1500" dirty="0">
                <a:solidFill>
                  <a:srgbClr val="7A4310"/>
                </a:solidFill>
              </a:rPr>
              <a:t>Add real feedback: who tried the prototype, which task, where they struggled, and what you changed. Do not invent it.</a:t>
            </a:r>
            <a:endParaRPr lang="en-US" sz="1500" dirty="0"/>
          </a:p>
        </p:txBody>
      </p:sp>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Photo frame"/>
          <p:cNvSpPr/>
          <p:nvPr/>
        </p:nvSpPr>
        <p:spPr>
          <a:xfrm>
            <a:off x="9418320" y="320040"/>
            <a:ext cx="2377440" cy="2834640"/>
          </a:xfrm>
          <a:prstGeom prst="rect">
            <a:avLst/>
          </a:prstGeom>
          <a:solidFill>
            <a:srgbClr val="111111"/>
          </a:solidFill>
          <a:ln w="12700">
            <a:solidFill>
              <a:srgbClr val="111111"/>
            </a:solidFill>
            <a:prstDash val="solid"/>
          </a:ln>
        </p:spPr>
      </p:sp>
      <p:sp>
        <p:nvSpPr>
          <p:cNvPr id="3" name="Photo prompt"/>
          <p:cNvSpPr txBox="1"/>
          <p:nvPr/>
        </p:nvSpPr>
        <p:spPr>
          <a:xfrm>
            <a:off x="9555480" y="1371600"/>
            <a:ext cx="2103120" cy="731520"/>
          </a:xfrm>
          <a:prstGeom prst="rect">
            <a:avLst/>
          </a:prstGeom>
          <a:noFill/>
          <a:ln/>
        </p:spPr>
        <p:txBody>
          <a:bodyPr wrap="square" lIns="0" tIns="0" rIns="0" bIns="0" rtlCol="0" anchor="ctr"/>
          <a:lstStyle/>
          <a:p>
            <a:pPr algn="ctr" indent="0" marL="0">
              <a:buNone/>
            </a:pPr>
            <a:r>
              <a:rPr lang="en-US" sz="1300" dirty="0">
                <a:solidFill>
                  <a:srgbClr val="FFFFFF"/>
                </a:solidFill>
              </a:rPr>
              <a:t>Add a professional photo here</a:t>
            </a:r>
            <a:endParaRPr lang="en-US" sz="1300" dirty="0"/>
          </a:p>
        </p:txBody>
      </p:sp>
      <p:sp>
        <p:nvSpPr>
          <p:cNvPr id="4" name="Title label"/>
          <p:cNvSpPr txBox="1"/>
          <p:nvPr/>
        </p:nvSpPr>
        <p:spPr>
          <a:xfrm>
            <a:off x="548640" y="3520440"/>
            <a:ext cx="8229600" cy="365760"/>
          </a:xfrm>
          <a:prstGeom prst="rect">
            <a:avLst/>
          </a:prstGeom>
          <a:noFill/>
          <a:ln/>
        </p:spPr>
        <p:txBody>
          <a:bodyPr wrap="square" lIns="0" tIns="0" rIns="0" bIns="0" rtlCol="0" anchor="ctr"/>
          <a:lstStyle/>
          <a:p>
            <a:pPr indent="0" marL="0">
              <a:buNone/>
            </a:pPr>
            <a:r>
              <a:rPr lang="en-US" sz="1400" b="1" spc="100" kern="0" dirty="0">
                <a:solidFill>
                  <a:schemeClr val="accent1"/>
                </a:solidFill>
              </a:rPr>
              <a:t>Title of the individual component</a:t>
            </a:r>
            <a:endParaRPr lang="en-US" sz="1400" dirty="0"/>
          </a:p>
        </p:txBody>
      </p:sp>
      <p:sp>
        <p:nvSpPr>
          <p:cNvPr id="5" name="Individual title"/>
          <p:cNvSpPr txBox="1"/>
          <p:nvPr/>
        </p:nvSpPr>
        <p:spPr>
          <a:xfrm>
            <a:off x="548640" y="3931920"/>
            <a:ext cx="10515600" cy="1280160"/>
          </a:xfrm>
          <a:prstGeom prst="rect">
            <a:avLst/>
          </a:prstGeom>
          <a:noFill/>
          <a:ln/>
        </p:spPr>
        <p:txBody>
          <a:bodyPr wrap="square" lIns="0" tIns="0" rIns="0" bIns="0" rtlCol="0" anchor="t"/>
          <a:lstStyle/>
          <a:p>
            <a:pPr indent="0" marL="0">
              <a:buNone/>
            </a:pPr>
            <a:r>
              <a:rPr lang="en-US" sz="3400" b="1" dirty="0">
                <a:solidFill>
                  <a:schemeClr val="tx2"/>
                </a:solidFill>
                <a:latin typeface="Cambria" pitchFamily="34" charset="0"/>
                <a:ea typeface="Cambria" pitchFamily="34" charset="-122"/>
                <a:cs typeface="Cambria" pitchFamily="34" charset="-120"/>
              </a:rPr>
              <a:t>Complexity-Routed HydraLoRA versus Standard LoRA for SQL Generation</a:t>
            </a:r>
            <a:endParaRPr lang="en-US" sz="3400" dirty="0"/>
          </a:p>
        </p:txBody>
      </p:sp>
      <p:sp>
        <p:nvSpPr>
          <p:cNvPr id="6" name="Specialization"/>
          <p:cNvSpPr txBox="1"/>
          <p:nvPr/>
        </p:nvSpPr>
        <p:spPr>
          <a:xfrm>
            <a:off x="548640" y="5440680"/>
            <a:ext cx="7315200" cy="411480"/>
          </a:xfrm>
          <a:prstGeom prst="rect">
            <a:avLst/>
          </a:prstGeom>
          <a:noFill/>
          <a:ln/>
        </p:spPr>
        <p:txBody>
          <a:bodyPr wrap="square" lIns="0" tIns="0" rIns="0" bIns="0" rtlCol="0" anchor="ctr"/>
          <a:lstStyle/>
          <a:p>
            <a:pPr indent="0" marL="0">
              <a:buNone/>
            </a:pPr>
            <a:r>
              <a:rPr lang="en-US" sz="1800" b="1" dirty="0">
                <a:solidFill>
                  <a:schemeClr val="tx1"/>
                </a:solidFill>
              </a:rPr>
              <a:t>Specialization: </a:t>
            </a:r>
            <a:pPr indent="0" marL="0">
              <a:buNone/>
            </a:pPr>
            <a:r>
              <a:rPr lang="en-US" sz="1800" dirty="0">
                <a:solidFill>
                  <a:schemeClr val="tx1"/>
                </a:solidFill>
              </a:rPr>
              <a:t>Data Science</a:t>
            </a:r>
            <a:endParaRPr lang="en-US" sz="1800" dirty="0"/>
          </a:p>
        </p:txBody>
      </p:sp>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INDIVIDUAL COMPONENT · 1 OF 2</a:t>
            </a:r>
            <a:endParaRPr lang="en-US" sz="1200" dirty="0"/>
          </a:p>
        </p:txBody>
      </p:sp>
      <p:sp>
        <p:nvSpPr>
          <p:cNvPr id="3" name="Individual title"/>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Complexity-Routed HydraLoRA versus Standard LoRA for SQL Generation</a:t>
            </a:r>
            <a:endParaRPr lang="en-US" sz="2600" dirty="0"/>
          </a:p>
        </p:txBody>
      </p:sp>
      <p:sp>
        <p:nvSpPr>
          <p:cNvPr id="4" name="Prototype card"/>
          <p:cNvSpPr/>
          <p:nvPr/>
        </p:nvSpPr>
        <p:spPr>
          <a:xfrm>
            <a:off x="548640" y="1554480"/>
            <a:ext cx="6035040" cy="4526280"/>
          </a:xfrm>
          <a:prstGeom prst="roundRect">
            <a:avLst>
              <a:gd name="adj" fmla="val 1616"/>
            </a:avLst>
          </a:prstGeom>
          <a:solidFill>
            <a:srgbClr val="F3F5F8"/>
          </a:solidFill>
          <a:ln w="9525">
            <a:solidFill>
              <a:srgbClr val="D5DAE1"/>
            </a:solidFill>
            <a:prstDash val="solid"/>
          </a:ln>
        </p:spPr>
      </p:sp>
      <p:sp>
        <p:nvSpPr>
          <p:cNvPr id="5" name="Prototype heading"/>
          <p:cNvSpPr txBox="1"/>
          <p:nvPr/>
        </p:nvSpPr>
        <p:spPr>
          <a:xfrm>
            <a:off x="777240" y="1691640"/>
            <a:ext cx="5577840" cy="411480"/>
          </a:xfrm>
          <a:prstGeom prst="rect">
            <a:avLst/>
          </a:prstGeom>
          <a:noFill/>
          <a:ln/>
        </p:spPr>
        <p:txBody>
          <a:bodyPr wrap="square" lIns="0" tIns="0" rIns="0" bIns="0" rtlCol="0" anchor="ctr"/>
          <a:lstStyle/>
          <a:p>
            <a:pPr indent="0" marL="0">
              <a:buNone/>
            </a:pPr>
            <a:r>
              <a:rPr lang="en-US" sz="1700" b="1" dirty="0">
                <a:solidFill>
                  <a:srgbClr val="14213D"/>
                </a:solidFill>
              </a:rPr>
              <a:t>How the solution addresses the sub-problem (prototype)</a:t>
            </a:r>
            <a:endParaRPr lang="en-US" sz="1700" dirty="0"/>
          </a:p>
        </p:txBody>
      </p:sp>
      <p:sp>
        <p:nvSpPr>
          <p:cNvPr id="6" name="Sub-problem"/>
          <p:cNvSpPr txBox="1"/>
          <p:nvPr/>
        </p:nvSpPr>
        <p:spPr>
          <a:xfrm>
            <a:off x="777240" y="2057400"/>
            <a:ext cx="5577840" cy="868680"/>
          </a:xfrm>
          <a:prstGeom prst="rect">
            <a:avLst/>
          </a:prstGeom>
          <a:noFill/>
          <a:ln/>
        </p:spPr>
        <p:txBody>
          <a:bodyPr wrap="square" lIns="0" tIns="0" rIns="0" bIns="0" rtlCol="0" anchor="t"/>
          <a:lstStyle/>
          <a:p>
            <a:pPr indent="0" marL="0">
              <a:buNone/>
            </a:pPr>
            <a:r>
              <a:rPr lang="en-US" sz="1500" i="1" dirty="0">
                <a:solidFill>
                  <a:srgbClr val="4B5563"/>
                </a:solidFill>
              </a:rPr>
              <a:t>Sub-problem: one shared adapter must learn simple lookups and multi-table joins alike.</a:t>
            </a:r>
            <a:endParaRPr lang="en-US" sz="1500" dirty="0"/>
          </a:p>
        </p:txBody>
      </p:sp>
      <p:sp>
        <p:nvSpPr>
          <p:cNvPr id="7" name="Prototype steps"/>
          <p:cNvSpPr txBox="1"/>
          <p:nvPr/>
        </p:nvSpPr>
        <p:spPr>
          <a:xfrm>
            <a:off x="777240" y="3017520"/>
            <a:ext cx="5577840" cy="2971800"/>
          </a:xfrm>
          <a:prstGeom prst="rect">
            <a:avLst/>
          </a:prstGeom>
          <a:noFill/>
          <a:ln/>
        </p:spPr>
        <p:txBody>
          <a:bodyPr wrap="square" lIns="0" tIns="0" rIns="0" bIns="0" rtlCol="0" anchor="t"/>
          <a:lstStyle/>
          <a:p>
            <a:pPr marL="190500" indent="-190500">
              <a:spcAft>
                <a:spcPts val="400"/>
              </a:spcAft>
              <a:buSzPct val="100000"/>
              <a:buChar char="•"/>
            </a:pPr>
            <a:r>
              <a:rPr lang="en-US" sz="1600" b="1" dirty="0">
                <a:solidFill>
                  <a:schemeClr val="tx1"/>
                </a:solidFill>
              </a:rPr>
              <a:t>Base: </a:t>
            </a:r>
            <a:pPr indent="0" marL="0">
              <a:spcAft>
                <a:spcPts val="400"/>
              </a:spcAft>
              <a:buNone/>
            </a:pPr>
            <a:r>
              <a:rPr lang="en-US" sz="1600" dirty="0">
                <a:solidFill>
                  <a:schemeClr val="tx1"/>
                </a:solidFill>
              </a:rPr>
              <a:t>Qwen2.5-1.5B (Agent 2’s distilled base when it exists)</a:t>
            </a:r>
            <a:endParaRPr lang="en-US" sz="1600" dirty="0"/>
          </a:p>
          <a:p>
            <a:pPr marL="190500" indent="-190500">
              <a:spcAft>
                <a:spcPts val="400"/>
              </a:spcAft>
              <a:buSzPct val="100000"/>
              <a:buChar char="•"/>
            </a:pPr>
            <a:r>
              <a:rPr lang="en-US" sz="1600" b="1" dirty="0">
                <a:solidFill>
                  <a:schemeClr val="tx1"/>
                </a:solidFill>
              </a:rPr>
              <a:t>Data: </a:t>
            </a:r>
            <a:pPr indent="0" marL="0">
              <a:spcAft>
                <a:spcPts val="400"/>
              </a:spcAft>
              <a:buNone/>
            </a:pPr>
            <a:r>
              <a:rPr lang="en-US" sz="1600" dirty="0">
                <a:solidFill>
                  <a:schemeClr val="tx1"/>
                </a:solidFill>
              </a:rPr>
              <a:t>Spider training questions labelled by complexity</a:t>
            </a:r>
            <a:endParaRPr lang="en-US" sz="1600" dirty="0"/>
          </a:p>
          <a:p>
            <a:pPr marL="190500" indent="-190500">
              <a:spcAft>
                <a:spcPts val="400"/>
              </a:spcAft>
              <a:buSzPct val="100000"/>
              <a:buChar char="•"/>
            </a:pPr>
            <a:r>
              <a:rPr lang="en-US" sz="1600" b="1" dirty="0">
                <a:solidFill>
                  <a:schemeClr val="tx1"/>
                </a:solidFill>
              </a:rPr>
              <a:t>Standard LoRA: </a:t>
            </a:r>
            <a:pPr indent="0" marL="0">
              <a:spcAft>
                <a:spcPts val="400"/>
              </a:spcAft>
              <a:buNone/>
            </a:pPr>
            <a:r>
              <a:rPr lang="en-US" sz="1600" dirty="0">
                <a:solidFill>
                  <a:schemeClr val="tx1"/>
                </a:solidFill>
              </a:rPr>
              <a:t>one shared adapter, rank 16 (control)</a:t>
            </a:r>
            <a:endParaRPr lang="en-US" sz="1600" dirty="0"/>
          </a:p>
          <a:p>
            <a:pPr marL="190500" indent="-190500">
              <a:spcAft>
                <a:spcPts val="400"/>
              </a:spcAft>
              <a:buSzPct val="100000"/>
              <a:buChar char="•"/>
            </a:pPr>
            <a:r>
              <a:rPr lang="en-US" sz="1600" b="1" dirty="0">
                <a:solidFill>
                  <a:schemeClr val="tx1"/>
                </a:solidFill>
              </a:rPr>
              <a:t>HydraLoRA: </a:t>
            </a:r>
            <a:pPr indent="0" marL="0">
              <a:spcAft>
                <a:spcPts val="400"/>
              </a:spcAft>
              <a:buNone/>
            </a:pPr>
            <a:r>
              <a:rPr lang="en-US" sz="1600" dirty="0">
                <a:solidFill>
                  <a:schemeClr val="tx1"/>
                </a:solidFill>
              </a:rPr>
              <a:t>one shared part plus a head per complexity type</a:t>
            </a:r>
            <a:endParaRPr lang="en-US" sz="1600" dirty="0"/>
          </a:p>
          <a:p>
            <a:pPr marL="190500" indent="-190500">
              <a:spcAft>
                <a:spcPts val="400"/>
              </a:spcAft>
              <a:buSzPct val="100000"/>
              <a:buChar char="•"/>
            </a:pPr>
            <a:r>
              <a:rPr lang="en-US" sz="1600" b="1" dirty="0">
                <a:solidFill>
                  <a:schemeClr val="tx1"/>
                </a:solidFill>
              </a:rPr>
              <a:t>Live: </a:t>
            </a:r>
            <a:pPr indent="0" marL="0">
              <a:spcAft>
                <a:spcPts val="400"/>
              </a:spcAft>
              <a:buNone/>
            </a:pPr>
            <a:r>
              <a:rPr lang="en-US" sz="1600" dirty="0">
                <a:solidFill>
                  <a:schemeClr val="tx1"/>
                </a:solidFill>
              </a:rPr>
              <a:t>Agent 1’s label picks the head; Agent 4’s error hint used on retry</a:t>
            </a:r>
            <a:endParaRPr lang="en-US" sz="1600" dirty="0"/>
          </a:p>
        </p:txBody>
      </p:sp>
      <p:sp>
        <p:nvSpPr>
          <p:cNvPr id="8" name="Requirements card"/>
          <p:cNvSpPr/>
          <p:nvPr/>
        </p:nvSpPr>
        <p:spPr>
          <a:xfrm>
            <a:off x="6766560" y="1554480"/>
            <a:ext cx="4846320" cy="4526280"/>
          </a:xfrm>
          <a:prstGeom prst="roundRect">
            <a:avLst>
              <a:gd name="adj" fmla="val 1616"/>
            </a:avLst>
          </a:prstGeom>
          <a:solidFill>
            <a:srgbClr val="F3F5F8"/>
          </a:solidFill>
          <a:ln w="9525">
            <a:solidFill>
              <a:srgbClr val="D5DAE1"/>
            </a:solidFill>
            <a:prstDash val="solid"/>
          </a:ln>
        </p:spPr>
      </p:sp>
      <p:sp>
        <p:nvSpPr>
          <p:cNvPr id="9" name="Requirements heading"/>
          <p:cNvSpPr txBox="1"/>
          <p:nvPr/>
        </p:nvSpPr>
        <p:spPr>
          <a:xfrm>
            <a:off x="6995160" y="1691640"/>
            <a:ext cx="4389120" cy="411480"/>
          </a:xfrm>
          <a:prstGeom prst="rect">
            <a:avLst/>
          </a:prstGeom>
          <a:noFill/>
          <a:ln/>
        </p:spPr>
        <p:txBody>
          <a:bodyPr wrap="square" lIns="0" tIns="0" rIns="0" bIns="0" rtlCol="0" anchor="ctr"/>
          <a:lstStyle/>
          <a:p>
            <a:pPr indent="0" marL="0">
              <a:buNone/>
            </a:pPr>
            <a:r>
              <a:rPr lang="en-US" sz="1700" b="1" dirty="0">
                <a:solidFill>
                  <a:srgbClr val="14213D"/>
                </a:solidFill>
              </a:rPr>
              <a:t>User requirements addressed</a:t>
            </a:r>
            <a:endParaRPr lang="en-US" sz="1700" dirty="0"/>
          </a:p>
        </p:txBody>
      </p:sp>
      <p:sp>
        <p:nvSpPr>
          <p:cNvPr id="10" name="Requirements list"/>
          <p:cNvSpPr txBox="1"/>
          <p:nvPr/>
        </p:nvSpPr>
        <p:spPr>
          <a:xfrm>
            <a:off x="6995160" y="2103120"/>
            <a:ext cx="4389120" cy="3886200"/>
          </a:xfrm>
          <a:prstGeom prst="rect">
            <a:avLst/>
          </a:prstGeom>
          <a:noFill/>
          <a:ln/>
        </p:spPr>
        <p:txBody>
          <a:bodyPr wrap="square" lIns="0" tIns="0" rIns="0" bIns="0" rtlCol="0" anchor="t"/>
          <a:lstStyle/>
          <a:p>
            <a:pPr marL="190500" indent="-190500">
              <a:spcAft>
                <a:spcPts val="400"/>
              </a:spcAft>
              <a:buSzPct val="100000"/>
              <a:buChar char="•"/>
            </a:pPr>
            <a:r>
              <a:rPr lang="en-US" sz="1600" dirty="0">
                <a:solidFill>
                  <a:schemeClr val="tx1"/>
                </a:solidFill>
              </a:rPr>
              <a:t>LoRA and HydraLoRA on the same base, data and budget  ✓</a:t>
            </a:r>
            <a:endParaRPr lang="en-US" sz="1600" dirty="0"/>
          </a:p>
          <a:p>
            <a:pPr marL="190500" indent="-190500">
              <a:spcAft>
                <a:spcPts val="400"/>
              </a:spcAft>
              <a:buSzPct val="100000"/>
              <a:buChar char="•"/>
            </a:pPr>
            <a:r>
              <a:rPr lang="en-US" sz="1600" dirty="0">
                <a:solidFill>
                  <a:schemeClr val="tx1"/>
                </a:solidFill>
              </a:rPr>
              <a:t>Routing by the shared complexity classifier  ✓</a:t>
            </a:r>
            <a:endParaRPr lang="en-US" sz="1600" dirty="0"/>
          </a:p>
          <a:p>
            <a:pPr marL="190500" indent="-190500">
              <a:spcAft>
                <a:spcPts val="400"/>
              </a:spcAft>
              <a:buSzPct val="100000"/>
              <a:buChar char="•"/>
            </a:pPr>
            <a:r>
              <a:rPr lang="en-US" sz="1600" dirty="0">
                <a:solidFill>
                  <a:schemeClr val="tx1"/>
                </a:solidFill>
              </a:rPr>
              <a:t>Accuracy reported per complexity, with statistics  ✓</a:t>
            </a:r>
            <a:endParaRPr lang="en-US" sz="1600" dirty="0"/>
          </a:p>
          <a:p>
            <a:pPr marL="190500" indent="-190500">
              <a:spcAft>
                <a:spcPts val="400"/>
              </a:spcAft>
              <a:buSzPct val="100000"/>
              <a:buChar char="•"/>
            </a:pPr>
            <a:r>
              <a:rPr lang="en-US" sz="1600" dirty="0">
                <a:solidFill>
                  <a:schemeClr val="tx1"/>
                </a:solidFill>
              </a:rPr>
              <a:t>Winner (LoRA) and runner-up (HydraLoRA) packaged for Agent 4  ✓</a:t>
            </a:r>
            <a:endParaRPr lang="en-US" sz="1600" dirty="0"/>
          </a:p>
          <a:p>
            <a:pPr marL="190500" indent="-190500">
              <a:spcAft>
                <a:spcPts val="400"/>
              </a:spcAft>
              <a:buSzPct val="100000"/>
              <a:buChar char="•"/>
            </a:pPr>
            <a:r>
              <a:rPr lang="en-US" sz="1600" dirty="0">
                <a:solidFill>
                  <a:schemeClr val="tx1"/>
                </a:solidFill>
              </a:rPr>
              <a:t>Planned: head selection inside the live app</a:t>
            </a:r>
            <a:endParaRPr lang="en-US" sz="1600" dirty="0"/>
          </a:p>
        </p:txBody>
      </p:sp>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INDIVIDUAL COMPONENT · 2 OF 2</a:t>
            </a:r>
            <a:endParaRPr lang="en-US" sz="1200" dirty="0"/>
          </a:p>
        </p:txBody>
      </p:sp>
      <p:sp>
        <p:nvSpPr>
          <p:cNvPr id="3" name="Individual title"/>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Complexity-Routed HydraLoRA versus Standard LoRA for SQL Generation</a:t>
            </a:r>
            <a:endParaRPr lang="en-US" sz="2600" dirty="0"/>
          </a:p>
        </p:txBody>
      </p:sp>
      <p:sp>
        <p:nvSpPr>
          <p:cNvPr id="4" name="Contribution card"/>
          <p:cNvSpPr/>
          <p:nvPr/>
        </p:nvSpPr>
        <p:spPr>
          <a:xfrm>
            <a:off x="548640" y="1554480"/>
            <a:ext cx="6766560" cy="4526280"/>
          </a:xfrm>
          <a:prstGeom prst="roundRect">
            <a:avLst>
              <a:gd name="adj" fmla="val 1616"/>
            </a:avLst>
          </a:prstGeom>
          <a:solidFill>
            <a:srgbClr val="F3F5F8"/>
          </a:solidFill>
          <a:ln w="9525">
            <a:solidFill>
              <a:srgbClr val="D5DAE1"/>
            </a:solidFill>
            <a:prstDash val="solid"/>
          </a:ln>
        </p:spPr>
      </p:sp>
      <p:sp>
        <p:nvSpPr>
          <p:cNvPr id="5" name="Contribution heading"/>
          <p:cNvSpPr txBox="1"/>
          <p:nvPr/>
        </p:nvSpPr>
        <p:spPr>
          <a:xfrm>
            <a:off x="777240" y="1691640"/>
            <a:ext cx="6309360" cy="411480"/>
          </a:xfrm>
          <a:prstGeom prst="rect">
            <a:avLst/>
          </a:prstGeom>
          <a:noFill/>
          <a:ln/>
        </p:spPr>
        <p:txBody>
          <a:bodyPr wrap="square" lIns="0" tIns="0" rIns="0" bIns="0" rtlCol="0" anchor="ctr"/>
          <a:lstStyle/>
          <a:p>
            <a:pPr indent="0" marL="0">
              <a:buNone/>
            </a:pPr>
            <a:r>
              <a:rPr lang="en-US" sz="1700" b="1" dirty="0">
                <a:solidFill>
                  <a:srgbClr val="14213D"/>
                </a:solidFill>
              </a:rPr>
              <a:t>Design excellence / contribution</a:t>
            </a:r>
            <a:endParaRPr lang="en-US" sz="1700" dirty="0"/>
          </a:p>
        </p:txBody>
      </p:sp>
      <p:graphicFrame>
        <p:nvGraphicFramePr>
          <p:cNvPr id="13" name="Results table"/>
          <p:cNvGraphicFramePr>
            <a:graphicFrameLocks noGrp="1"/>
          </p:cNvGraphicFramePr>
          <p:nvPr>
            <p:extLst>
              <p:ext uri="{D42A27DB-BD31-4B8C-83A1-F6EECF244321}">
                <p14:modId xmlns:p14="http://schemas.microsoft.com/office/powerpoint/2010/main" val="1579011935"/>
              </p:ext>
            </p:extLst>
          </p:nvPr>
        </p:nvGraphicFramePr>
        <p:xfrm>
          <a:off x="777240" y="2103120"/>
          <a:ext cx="6309360" cy="914400"/>
        </p:xfrm>
        <a:graphic>
          <a:graphicData uri="http://schemas.openxmlformats.org/drawingml/2006/table">
            <a:tbl>
              <a:tblPr/>
              <a:tblGrid>
                <a:gridCol w="3840480"/>
                <a:gridCol w="246888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Model (128 questions)</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Correct SQL</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r>
              <a:tr h="0">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Base model, no training</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41%</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0">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LoRA: one trained adapter</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55% (real gain)</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HydraLoRA, perfect labels</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52% (same as LoRA)</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0">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HydraLoRA, live labels</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39%</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7" name="Results note"/>
          <p:cNvSpPr txBox="1"/>
          <p:nvPr/>
        </p:nvSpPr>
        <p:spPr>
          <a:xfrm>
            <a:off x="777240" y="4343400"/>
            <a:ext cx="6309360" cy="1188720"/>
          </a:xfrm>
          <a:prstGeom prst="rect">
            <a:avLst/>
          </a:prstGeom>
          <a:noFill/>
          <a:ln/>
        </p:spPr>
        <p:txBody>
          <a:bodyPr wrap="square" lIns="0" tIns="0" rIns="0" bIns="0" rtlCol="0" anchor="t"/>
          <a:lstStyle/>
          <a:p>
            <a:pPr indent="0" marL="0">
              <a:buNone/>
            </a:pPr>
            <a:r>
              <a:rPr lang="en-US" sz="1400" dirty="0">
                <a:solidFill>
                  <a:srgbClr val="4B5563"/>
                </a:solidFill>
              </a:rPr>
              <a:t>LoRA lifts one-join questions 29% → 68%; multi-join stays near 16% for all. Each 10 points of routing error costs about 3 points of accuracy.</a:t>
            </a:r>
            <a:endParaRPr lang="en-US" sz="1400" dirty="0"/>
          </a:p>
        </p:txBody>
      </p:sp>
      <p:sp>
        <p:nvSpPr>
          <p:cNvPr id="8" name="Feedback card"/>
          <p:cNvSpPr/>
          <p:nvPr/>
        </p:nvSpPr>
        <p:spPr>
          <a:xfrm>
            <a:off x="7498080" y="1554480"/>
            <a:ext cx="4114800" cy="4526280"/>
          </a:xfrm>
          <a:prstGeom prst="roundRect">
            <a:avLst>
              <a:gd name="adj" fmla="val 1778"/>
            </a:avLst>
          </a:prstGeom>
          <a:solidFill>
            <a:srgbClr val="F3F5F8"/>
          </a:solidFill>
          <a:ln w="9525">
            <a:solidFill>
              <a:srgbClr val="D5DAE1"/>
            </a:solidFill>
            <a:prstDash val="solid"/>
          </a:ln>
        </p:spPr>
      </p:sp>
      <p:sp>
        <p:nvSpPr>
          <p:cNvPr id="9" name="Feedback heading"/>
          <p:cNvSpPr txBox="1"/>
          <p:nvPr/>
        </p:nvSpPr>
        <p:spPr>
          <a:xfrm>
            <a:off x="7726680" y="1691640"/>
            <a:ext cx="3657600" cy="411480"/>
          </a:xfrm>
          <a:prstGeom prst="rect">
            <a:avLst/>
          </a:prstGeom>
          <a:noFill/>
          <a:ln/>
        </p:spPr>
        <p:txBody>
          <a:bodyPr wrap="square" lIns="0" tIns="0" rIns="0" bIns="0" rtlCol="0" anchor="ctr"/>
          <a:lstStyle/>
          <a:p>
            <a:pPr indent="0" marL="0">
              <a:buNone/>
            </a:pPr>
            <a:r>
              <a:rPr lang="en-US" sz="1700" b="1" dirty="0">
                <a:solidFill>
                  <a:srgbClr val="14213D"/>
                </a:solidFill>
              </a:rPr>
              <a:t>User feedback on prototype</a:t>
            </a:r>
            <a:endParaRPr lang="en-US" sz="1700" dirty="0"/>
          </a:p>
        </p:txBody>
      </p:sp>
      <p:sp>
        <p:nvSpPr>
          <p:cNvPr id="10" name="Feedback placeholder box"/>
          <p:cNvSpPr/>
          <p:nvPr/>
        </p:nvSpPr>
        <p:spPr>
          <a:xfrm>
            <a:off x="7726680" y="2103120"/>
            <a:ext cx="3657600" cy="1737360"/>
          </a:xfrm>
          <a:prstGeom prst="roundRect">
            <a:avLst>
              <a:gd name="adj" fmla="val 3158"/>
            </a:avLst>
          </a:prstGeom>
          <a:solidFill>
            <a:srgbClr val="FBEFE6"/>
          </a:solidFill>
          <a:ln w="9525">
            <a:solidFill>
              <a:srgbClr val="E8C9AE"/>
            </a:solidFill>
            <a:prstDash val="solid"/>
          </a:ln>
        </p:spPr>
      </p:sp>
      <p:sp>
        <p:nvSpPr>
          <p:cNvPr id="11" name="Feedback placeholder"/>
          <p:cNvSpPr txBox="1"/>
          <p:nvPr/>
        </p:nvSpPr>
        <p:spPr>
          <a:xfrm>
            <a:off x="7863840" y="2194560"/>
            <a:ext cx="3383280" cy="1554480"/>
          </a:xfrm>
          <a:prstGeom prst="rect">
            <a:avLst/>
          </a:prstGeom>
          <a:noFill/>
          <a:ln/>
        </p:spPr>
        <p:txBody>
          <a:bodyPr wrap="square" lIns="0" tIns="0" rIns="0" bIns="0" rtlCol="0" anchor="t"/>
          <a:lstStyle/>
          <a:p>
            <a:pPr indent="0" marL="0">
              <a:buNone/>
            </a:pPr>
            <a:r>
              <a:rPr lang="en-US" sz="1500" dirty="0">
                <a:solidFill>
                  <a:srgbClr val="7A4310"/>
                </a:solidFill>
              </a:rPr>
              <a:t>Add real feedback: who tried the prototype, which task, where they struggled, and what you changed. Do not invent it.</a:t>
            </a:r>
            <a:endParaRPr lang="en-US" sz="1500" dirty="0"/>
          </a:p>
        </p:txBody>
      </p:sp>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Photo frame"/>
          <p:cNvSpPr/>
          <p:nvPr/>
        </p:nvSpPr>
        <p:spPr>
          <a:xfrm>
            <a:off x="9418320" y="320040"/>
            <a:ext cx="2377440" cy="2834640"/>
          </a:xfrm>
          <a:prstGeom prst="rect">
            <a:avLst/>
          </a:prstGeom>
          <a:solidFill>
            <a:srgbClr val="111111"/>
          </a:solidFill>
          <a:ln w="12700">
            <a:solidFill>
              <a:srgbClr val="111111"/>
            </a:solidFill>
            <a:prstDash val="solid"/>
          </a:ln>
        </p:spPr>
      </p:sp>
      <p:sp>
        <p:nvSpPr>
          <p:cNvPr id="3" name="Photo prompt"/>
          <p:cNvSpPr txBox="1"/>
          <p:nvPr/>
        </p:nvSpPr>
        <p:spPr>
          <a:xfrm>
            <a:off x="9555480" y="1371600"/>
            <a:ext cx="2103120" cy="731520"/>
          </a:xfrm>
          <a:prstGeom prst="rect">
            <a:avLst/>
          </a:prstGeom>
          <a:noFill/>
          <a:ln/>
        </p:spPr>
        <p:txBody>
          <a:bodyPr wrap="square" lIns="0" tIns="0" rIns="0" bIns="0" rtlCol="0" anchor="ctr"/>
          <a:lstStyle/>
          <a:p>
            <a:pPr algn="ctr" indent="0" marL="0">
              <a:buNone/>
            </a:pPr>
            <a:r>
              <a:rPr lang="en-US" sz="1300" dirty="0">
                <a:solidFill>
                  <a:srgbClr val="FFFFFF"/>
                </a:solidFill>
              </a:rPr>
              <a:t>Add a professional photo here</a:t>
            </a:r>
            <a:endParaRPr lang="en-US" sz="1300" dirty="0"/>
          </a:p>
        </p:txBody>
      </p:sp>
      <p:sp>
        <p:nvSpPr>
          <p:cNvPr id="4" name="Title label"/>
          <p:cNvSpPr txBox="1"/>
          <p:nvPr/>
        </p:nvSpPr>
        <p:spPr>
          <a:xfrm>
            <a:off x="548640" y="3520440"/>
            <a:ext cx="8229600" cy="365760"/>
          </a:xfrm>
          <a:prstGeom prst="rect">
            <a:avLst/>
          </a:prstGeom>
          <a:noFill/>
          <a:ln/>
        </p:spPr>
        <p:txBody>
          <a:bodyPr wrap="square" lIns="0" tIns="0" rIns="0" bIns="0" rtlCol="0" anchor="ctr"/>
          <a:lstStyle/>
          <a:p>
            <a:pPr indent="0" marL="0">
              <a:buNone/>
            </a:pPr>
            <a:r>
              <a:rPr lang="en-US" sz="1400" b="1" spc="100" kern="0" dirty="0">
                <a:solidFill>
                  <a:schemeClr val="accent1"/>
                </a:solidFill>
              </a:rPr>
              <a:t>Title of the individual component</a:t>
            </a:r>
            <a:endParaRPr lang="en-US" sz="1400" dirty="0"/>
          </a:p>
        </p:txBody>
      </p:sp>
      <p:sp>
        <p:nvSpPr>
          <p:cNvPr id="5" name="Individual title"/>
          <p:cNvSpPr txBox="1"/>
          <p:nvPr/>
        </p:nvSpPr>
        <p:spPr>
          <a:xfrm>
            <a:off x="548640" y="3931920"/>
            <a:ext cx="10515600" cy="1280160"/>
          </a:xfrm>
          <a:prstGeom prst="rect">
            <a:avLst/>
          </a:prstGeom>
          <a:noFill/>
          <a:ln/>
        </p:spPr>
        <p:txBody>
          <a:bodyPr wrap="square" lIns="0" tIns="0" rIns="0" bIns="0" rtlCol="0" anchor="t"/>
          <a:lstStyle/>
          <a:p>
            <a:pPr indent="0" marL="0">
              <a:buNone/>
            </a:pPr>
            <a:r>
              <a:rPr lang="en-US" sz="3400" b="1" dirty="0">
                <a:solidFill>
                  <a:schemeClr val="tx2"/>
                </a:solidFill>
                <a:latin typeface="Cambria" pitchFamily="34" charset="0"/>
                <a:ea typeface="Cambria" pitchFamily="34" charset="-122"/>
                <a:cs typeface="Cambria" pitchFamily="34" charset="-120"/>
              </a:rPr>
              <a:t>SQL-Sensitive Mixed-Precision Quantization and Safe Query Execution</a:t>
            </a:r>
            <a:endParaRPr lang="en-US" sz="3400" dirty="0"/>
          </a:p>
        </p:txBody>
      </p:sp>
      <p:sp>
        <p:nvSpPr>
          <p:cNvPr id="6" name="Specialization"/>
          <p:cNvSpPr txBox="1"/>
          <p:nvPr/>
        </p:nvSpPr>
        <p:spPr>
          <a:xfrm>
            <a:off x="548640" y="5440680"/>
            <a:ext cx="7315200" cy="411480"/>
          </a:xfrm>
          <a:prstGeom prst="rect">
            <a:avLst/>
          </a:prstGeom>
          <a:noFill/>
          <a:ln/>
        </p:spPr>
        <p:txBody>
          <a:bodyPr wrap="square" lIns="0" tIns="0" rIns="0" bIns="0" rtlCol="0" anchor="ctr"/>
          <a:lstStyle/>
          <a:p>
            <a:pPr indent="0" marL="0">
              <a:buNone/>
            </a:pPr>
            <a:r>
              <a:rPr lang="en-US" sz="1800" b="1" dirty="0">
                <a:solidFill>
                  <a:schemeClr val="tx1"/>
                </a:solidFill>
              </a:rPr>
              <a:t>Specialization: </a:t>
            </a:r>
            <a:pPr indent="0" marL="0">
              <a:buNone/>
            </a:pPr>
            <a:r>
              <a:rPr lang="en-US" sz="1800" dirty="0">
                <a:solidFill>
                  <a:schemeClr val="tx1"/>
                </a:solidFill>
              </a:rPr>
              <a:t>Data Science</a:t>
            </a:r>
            <a:endParaRPr lang="en-US" sz="1800" dirty="0"/>
          </a:p>
        </p:txBody>
      </p:sp>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INDIVIDUAL COMPONENT · 1 OF 2</a:t>
            </a:r>
            <a:endParaRPr lang="en-US" sz="1200" dirty="0"/>
          </a:p>
        </p:txBody>
      </p:sp>
      <p:sp>
        <p:nvSpPr>
          <p:cNvPr id="3" name="Individual title"/>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SQL-Sensitive Mixed-Precision Quantization and Safe Query Execution</a:t>
            </a:r>
            <a:endParaRPr lang="en-US" sz="2600" dirty="0"/>
          </a:p>
        </p:txBody>
      </p:sp>
      <p:sp>
        <p:nvSpPr>
          <p:cNvPr id="4" name="Prototype card"/>
          <p:cNvSpPr/>
          <p:nvPr/>
        </p:nvSpPr>
        <p:spPr>
          <a:xfrm>
            <a:off x="548640" y="1554480"/>
            <a:ext cx="6035040" cy="4526280"/>
          </a:xfrm>
          <a:prstGeom prst="roundRect">
            <a:avLst>
              <a:gd name="adj" fmla="val 1616"/>
            </a:avLst>
          </a:prstGeom>
          <a:solidFill>
            <a:srgbClr val="F3F5F8"/>
          </a:solidFill>
          <a:ln w="9525">
            <a:solidFill>
              <a:srgbClr val="D5DAE1"/>
            </a:solidFill>
            <a:prstDash val="solid"/>
          </a:ln>
        </p:spPr>
      </p:sp>
      <p:sp>
        <p:nvSpPr>
          <p:cNvPr id="5" name="Prototype heading"/>
          <p:cNvSpPr txBox="1"/>
          <p:nvPr/>
        </p:nvSpPr>
        <p:spPr>
          <a:xfrm>
            <a:off x="777240" y="1691640"/>
            <a:ext cx="5577840" cy="411480"/>
          </a:xfrm>
          <a:prstGeom prst="rect">
            <a:avLst/>
          </a:prstGeom>
          <a:noFill/>
          <a:ln/>
        </p:spPr>
        <p:txBody>
          <a:bodyPr wrap="square" lIns="0" tIns="0" rIns="0" bIns="0" rtlCol="0" anchor="ctr"/>
          <a:lstStyle/>
          <a:p>
            <a:pPr indent="0" marL="0">
              <a:buNone/>
            </a:pPr>
            <a:r>
              <a:rPr lang="en-US" sz="1700" b="1" dirty="0">
                <a:solidFill>
                  <a:srgbClr val="14213D"/>
                </a:solidFill>
              </a:rPr>
              <a:t>How the solution addresses the sub-problem (prototype)</a:t>
            </a:r>
            <a:endParaRPr lang="en-US" sz="1700" dirty="0"/>
          </a:p>
        </p:txBody>
      </p:sp>
      <p:sp>
        <p:nvSpPr>
          <p:cNvPr id="6" name="Sub-problem"/>
          <p:cNvSpPr txBox="1"/>
          <p:nvPr/>
        </p:nvSpPr>
        <p:spPr>
          <a:xfrm>
            <a:off x="777240" y="2057400"/>
            <a:ext cx="5577840" cy="868680"/>
          </a:xfrm>
          <a:prstGeom prst="rect">
            <a:avLst/>
          </a:prstGeom>
          <a:noFill/>
          <a:ln/>
        </p:spPr>
        <p:txBody>
          <a:bodyPr wrap="square" lIns="0" tIns="0" rIns="0" bIns="0" rtlCol="0" anchor="t"/>
          <a:lstStyle/>
          <a:p>
            <a:pPr indent="0" marL="0">
              <a:buNone/>
            </a:pPr>
            <a:r>
              <a:rPr lang="en-US" sz="1500" i="1" dirty="0">
                <a:solidFill>
                  <a:srgbClr val="4B5563"/>
                </a:solidFill>
              </a:rPr>
              <a:t>Sub-problem: the model must shrink to fit a small GPU, but shrinking every layer to 4-bit breaks SQL names (59% → 51% correct).</a:t>
            </a:r>
            <a:endParaRPr lang="en-US" sz="1500" dirty="0"/>
          </a:p>
        </p:txBody>
      </p:sp>
      <p:sp>
        <p:nvSpPr>
          <p:cNvPr id="7" name="Prototype steps"/>
          <p:cNvSpPr txBox="1"/>
          <p:nvPr/>
        </p:nvSpPr>
        <p:spPr>
          <a:xfrm>
            <a:off x="777240" y="3017520"/>
            <a:ext cx="5577840" cy="2971800"/>
          </a:xfrm>
          <a:prstGeom prst="rect">
            <a:avLst/>
          </a:prstGeom>
          <a:noFill/>
          <a:ln/>
        </p:spPr>
        <p:txBody>
          <a:bodyPr wrap="square" lIns="0" tIns="0" rIns="0" bIns="0" rtlCol="0" anchor="t"/>
          <a:lstStyle/>
          <a:p>
            <a:pPr marL="190500" indent="-190500">
              <a:spcAft>
                <a:spcPts val="400"/>
              </a:spcAft>
              <a:buSzPct val="100000"/>
              <a:buChar char="•"/>
            </a:pPr>
            <a:r>
              <a:rPr lang="en-US" sz="1600" b="1" dirty="0">
                <a:solidFill>
                  <a:schemeClr val="tx1"/>
                </a:solidFill>
              </a:rPr>
              <a:t>Sensitivity: </a:t>
            </a:r>
            <a:pPr indent="0" marL="0">
              <a:spcAft>
                <a:spcPts val="400"/>
              </a:spcAft>
              <a:buNone/>
            </a:pPr>
            <a:r>
              <a:rPr lang="en-US" sz="1600" dirty="0">
                <a:solidFill>
                  <a:schemeClr val="tx1"/>
                </a:solidFill>
              </a:rPr>
              <a:t>set each of the 28 layers to 4-bit alone and measure the accuracy drop</a:t>
            </a:r>
            <a:endParaRPr lang="en-US" sz="1600" dirty="0"/>
          </a:p>
          <a:p>
            <a:pPr marL="190500" indent="-190500">
              <a:spcAft>
                <a:spcPts val="400"/>
              </a:spcAft>
              <a:buSzPct val="100000"/>
              <a:buChar char="•"/>
            </a:pPr>
            <a:r>
              <a:rPr lang="en-US" sz="1600" b="1" dirty="0">
                <a:solidFill>
                  <a:schemeClr val="tx1"/>
                </a:solidFill>
              </a:rPr>
              <a:t>Allocation: </a:t>
            </a:r>
            <a:pPr indent="0" marL="0">
              <a:spcAft>
                <a:spcPts val="400"/>
              </a:spcAft>
              <a:buNone/>
            </a:pPr>
            <a:r>
              <a:rPr lang="en-US" sz="1600" dirty="0">
                <a:solidFill>
                  <a:schemeClr val="tx1"/>
                </a:solidFill>
              </a:rPr>
              <a:t>the 6 most sensitive layers stay 8-bit, the other 22 become 4-bit</a:t>
            </a:r>
            <a:endParaRPr lang="en-US" sz="1600" dirty="0"/>
          </a:p>
          <a:p>
            <a:pPr marL="190500" indent="-190500">
              <a:spcAft>
                <a:spcPts val="400"/>
              </a:spcAft>
              <a:buSzPct val="100000"/>
              <a:buChar char="•"/>
            </a:pPr>
            <a:r>
              <a:rPr lang="en-US" sz="1600" b="1" dirty="0">
                <a:solidFill>
                  <a:schemeClr val="tx1"/>
                </a:solidFill>
              </a:rPr>
              <a:t>Build </a:t>
            </a:r>
            <a:pPr indent="0" marL="0">
              <a:spcAft>
                <a:spcPts val="400"/>
              </a:spcAft>
              <a:buNone/>
            </a:pPr>
            <a:r>
              <a:rPr lang="en-US" sz="1600" dirty="0">
                <a:solidFill>
                  <a:schemeClr val="tx1"/>
                </a:solidFill>
              </a:rPr>
              <a:t>the mixed model; compare with full size, all 8-bit and all 4-bit</a:t>
            </a:r>
            <a:endParaRPr lang="en-US" sz="1600" dirty="0"/>
          </a:p>
          <a:p>
            <a:pPr marL="190500" indent="-190500">
              <a:spcAft>
                <a:spcPts val="400"/>
              </a:spcAft>
              <a:buSzPct val="100000"/>
              <a:buChar char="•"/>
            </a:pPr>
            <a:r>
              <a:rPr lang="en-US" sz="1600" b="1" dirty="0">
                <a:solidFill>
                  <a:schemeClr val="tx1"/>
                </a:solidFill>
              </a:rPr>
              <a:t>Live: </a:t>
            </a:r>
            <a:pPr indent="0" marL="0">
              <a:spcAft>
                <a:spcPts val="400"/>
              </a:spcAft>
              <a:buNone/>
            </a:pPr>
            <a:r>
              <a:rPr lang="en-US" sz="1600" dirty="0">
                <a:solidFill>
                  <a:schemeClr val="tx1"/>
                </a:solidFill>
              </a:rPr>
              <a:t>SQL safety check, read-only execution, error hint back to Agent 3</a:t>
            </a:r>
            <a:endParaRPr lang="en-US" sz="1600" dirty="0"/>
          </a:p>
        </p:txBody>
      </p:sp>
      <p:sp>
        <p:nvSpPr>
          <p:cNvPr id="8" name="Requirements card"/>
          <p:cNvSpPr/>
          <p:nvPr/>
        </p:nvSpPr>
        <p:spPr>
          <a:xfrm>
            <a:off x="6766560" y="1554480"/>
            <a:ext cx="4846320" cy="4526280"/>
          </a:xfrm>
          <a:prstGeom prst="roundRect">
            <a:avLst>
              <a:gd name="adj" fmla="val 1616"/>
            </a:avLst>
          </a:prstGeom>
          <a:solidFill>
            <a:srgbClr val="F3F5F8"/>
          </a:solidFill>
          <a:ln w="9525">
            <a:solidFill>
              <a:srgbClr val="D5DAE1"/>
            </a:solidFill>
            <a:prstDash val="solid"/>
          </a:ln>
        </p:spPr>
      </p:sp>
      <p:sp>
        <p:nvSpPr>
          <p:cNvPr id="9" name="Requirements heading"/>
          <p:cNvSpPr txBox="1"/>
          <p:nvPr/>
        </p:nvSpPr>
        <p:spPr>
          <a:xfrm>
            <a:off x="6995160" y="1691640"/>
            <a:ext cx="4389120" cy="411480"/>
          </a:xfrm>
          <a:prstGeom prst="rect">
            <a:avLst/>
          </a:prstGeom>
          <a:noFill/>
          <a:ln/>
        </p:spPr>
        <p:txBody>
          <a:bodyPr wrap="square" lIns="0" tIns="0" rIns="0" bIns="0" rtlCol="0" anchor="ctr"/>
          <a:lstStyle/>
          <a:p>
            <a:pPr indent="0" marL="0">
              <a:buNone/>
            </a:pPr>
            <a:r>
              <a:rPr lang="en-US" sz="1700" b="1" dirty="0">
                <a:solidFill>
                  <a:srgbClr val="14213D"/>
                </a:solidFill>
              </a:rPr>
              <a:t>User requirements addressed</a:t>
            </a:r>
            <a:endParaRPr lang="en-US" sz="1700" dirty="0"/>
          </a:p>
        </p:txBody>
      </p:sp>
      <p:sp>
        <p:nvSpPr>
          <p:cNvPr id="10" name="Requirements list"/>
          <p:cNvSpPr txBox="1"/>
          <p:nvPr/>
        </p:nvSpPr>
        <p:spPr>
          <a:xfrm>
            <a:off x="6995160" y="2103120"/>
            <a:ext cx="4389120" cy="3886200"/>
          </a:xfrm>
          <a:prstGeom prst="rect">
            <a:avLst/>
          </a:prstGeom>
          <a:noFill/>
          <a:ln/>
        </p:spPr>
        <p:txBody>
          <a:bodyPr wrap="square" lIns="0" tIns="0" rIns="0" bIns="0" rtlCol="0" anchor="t"/>
          <a:lstStyle/>
          <a:p>
            <a:pPr marL="190500" indent="-190500">
              <a:spcAft>
                <a:spcPts val="400"/>
              </a:spcAft>
              <a:buSzPct val="100000"/>
              <a:buChar char="•"/>
            </a:pPr>
            <a:r>
              <a:rPr lang="en-US" sz="1600" dirty="0">
                <a:solidFill>
                  <a:schemeClr val="tx1"/>
                </a:solidFill>
              </a:rPr>
              <a:t>Fits a mid-range GPU: 1.29 GB instead of 2.97 GB  ✓</a:t>
            </a:r>
            <a:endParaRPr lang="en-US" sz="1600" dirty="0"/>
          </a:p>
          <a:p>
            <a:pPr marL="190500" indent="-190500">
              <a:spcAft>
                <a:spcPts val="400"/>
              </a:spcAft>
              <a:buSzPct val="100000"/>
              <a:buChar char="•"/>
            </a:pPr>
            <a:r>
              <a:rPr lang="en-US" sz="1600" dirty="0">
                <a:solidFill>
                  <a:schemeClr val="tx1"/>
                </a:solidFill>
              </a:rPr>
              <a:t>Accuracy, memory and speed reported per setting  ✓</a:t>
            </a:r>
            <a:endParaRPr lang="en-US" sz="1600" dirty="0"/>
          </a:p>
          <a:p>
            <a:pPr marL="190500" indent="-190500">
              <a:spcAft>
                <a:spcPts val="400"/>
              </a:spcAft>
              <a:buSzPct val="100000"/>
              <a:buChar char="•"/>
            </a:pPr>
            <a:r>
              <a:rPr lang="en-US" sz="1600" dirty="0">
                <a:solidFill>
                  <a:schemeClr val="tx1"/>
                </a:solidFill>
              </a:rPr>
              <a:t>Only safe SQL runs: SELECT only, one statement, read-only, time limit  ✓</a:t>
            </a:r>
            <a:endParaRPr lang="en-US" sz="1600" dirty="0"/>
          </a:p>
          <a:p>
            <a:pPr marL="190500" indent="-190500">
              <a:spcAft>
                <a:spcPts val="400"/>
              </a:spcAft>
              <a:buSzPct val="100000"/>
              <a:buChar char="•"/>
            </a:pPr>
            <a:r>
              <a:rPr lang="en-US" sz="1600" dirty="0">
                <a:solidFill>
                  <a:schemeClr val="tx1"/>
                </a:solidFill>
              </a:rPr>
              <a:t>Retry stops after 3 attempts  ✓</a:t>
            </a:r>
            <a:endParaRPr lang="en-US" sz="1600" dirty="0"/>
          </a:p>
          <a:p>
            <a:pPr marL="190500" indent="-190500">
              <a:spcAft>
                <a:spcPts val="400"/>
              </a:spcAft>
              <a:buSzPct val="100000"/>
              <a:buChar char="•"/>
            </a:pPr>
            <a:r>
              <a:rPr lang="en-US" sz="1600" dirty="0">
                <a:solidFill>
                  <a:schemeClr val="tx1"/>
                </a:solidFill>
              </a:rPr>
              <a:t>Writes the SQL in the team app today  ✓</a:t>
            </a:r>
            <a:endParaRPr lang="en-US" sz="1600" dirty="0"/>
          </a:p>
          <a:p>
            <a:pPr marL="190500" indent="-190500">
              <a:spcAft>
                <a:spcPts val="400"/>
              </a:spcAft>
              <a:buSzPct val="100000"/>
              <a:buChar char="•"/>
            </a:pPr>
            <a:r>
              <a:rPr lang="en-US" sz="1600" dirty="0">
                <a:solidFill>
                  <a:schemeClr val="tx1"/>
                </a:solidFill>
              </a:rPr>
              <a:t>Planned: separate test questions; llama.cpp and random-layer controls</a:t>
            </a:r>
            <a:endParaRPr lang="en-US" sz="1600" dirty="0"/>
          </a:p>
        </p:txBody>
      </p:sp>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yebrow"/>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INDIVIDUAL COMPONENT · 2 OF 2</a:t>
            </a:r>
            <a:endParaRPr lang="en-US" sz="1200" dirty="0"/>
          </a:p>
        </p:txBody>
      </p:sp>
      <p:sp>
        <p:nvSpPr>
          <p:cNvPr id="3" name="Individual title"/>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SQL-Sensitive Mixed-Precision Quantization and Safe Query Execution</a:t>
            </a:r>
            <a:endParaRPr lang="en-US" sz="2600" dirty="0"/>
          </a:p>
        </p:txBody>
      </p:sp>
      <p:sp>
        <p:nvSpPr>
          <p:cNvPr id="4" name="Contribution card"/>
          <p:cNvSpPr/>
          <p:nvPr/>
        </p:nvSpPr>
        <p:spPr>
          <a:xfrm>
            <a:off x="548640" y="1554480"/>
            <a:ext cx="6766560" cy="4526280"/>
          </a:xfrm>
          <a:prstGeom prst="roundRect">
            <a:avLst>
              <a:gd name="adj" fmla="val 1616"/>
            </a:avLst>
          </a:prstGeom>
          <a:solidFill>
            <a:srgbClr val="F3F5F8"/>
          </a:solidFill>
          <a:ln w="9525">
            <a:solidFill>
              <a:srgbClr val="D5DAE1"/>
            </a:solidFill>
            <a:prstDash val="solid"/>
          </a:ln>
        </p:spPr>
      </p:sp>
      <p:sp>
        <p:nvSpPr>
          <p:cNvPr id="5" name="Contribution heading"/>
          <p:cNvSpPr txBox="1"/>
          <p:nvPr/>
        </p:nvSpPr>
        <p:spPr>
          <a:xfrm>
            <a:off x="777240" y="1691640"/>
            <a:ext cx="6309360" cy="411480"/>
          </a:xfrm>
          <a:prstGeom prst="rect">
            <a:avLst/>
          </a:prstGeom>
          <a:noFill/>
          <a:ln/>
        </p:spPr>
        <p:txBody>
          <a:bodyPr wrap="square" lIns="0" tIns="0" rIns="0" bIns="0" rtlCol="0" anchor="ctr"/>
          <a:lstStyle/>
          <a:p>
            <a:pPr indent="0" marL="0">
              <a:buNone/>
            </a:pPr>
            <a:r>
              <a:rPr lang="en-US" sz="1700" b="1" dirty="0">
                <a:solidFill>
                  <a:srgbClr val="14213D"/>
                </a:solidFill>
              </a:rPr>
              <a:t>Design excellence / contribution</a:t>
            </a:r>
            <a:endParaRPr lang="en-US" sz="1700" dirty="0"/>
          </a:p>
        </p:txBody>
      </p:sp>
      <p:graphicFrame>
        <p:nvGraphicFramePr>
          <p:cNvPr id="16" name="Results table"/>
          <p:cNvGraphicFramePr>
            <a:graphicFrameLocks noGrp="1"/>
          </p:cNvGraphicFramePr>
          <p:nvPr>
            <p:extLst>
              <p:ext uri="{D42A27DB-BD31-4B8C-83A1-F6EECF244321}">
                <p14:modId xmlns:p14="http://schemas.microsoft.com/office/powerpoint/2010/main" val="1579011935"/>
              </p:ext>
            </p:extLst>
          </p:nvPr>
        </p:nvGraphicFramePr>
        <p:xfrm>
          <a:off x="777240" y="2103120"/>
          <a:ext cx="6309360" cy="914400"/>
        </p:xfrm>
        <a:graphic>
          <a:graphicData uri="http://schemas.openxmlformats.org/drawingml/2006/table">
            <a:tbl>
              <a:tblPr/>
              <a:tblGrid>
                <a:gridCol w="3200400"/>
                <a:gridCol w="1554480"/>
                <a:gridCol w="155448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Setting (100 questions)</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Correct</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Memory</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r>
              <a:tr h="0">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Full size (FP16)</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59%</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2.97 GB</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0">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All 8-bit (INT8)</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61%</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1.74 GB</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0">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All 4-bit (INT4)</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51%</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1.20 GB</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7F8FA"/>
                    </a:solidFill>
                  </a:tcPr>
                </a:tc>
              </a:tr>
              <a:tr h="0">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Mixed: 6 × 8-bit, 22 × 4-bit</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64% (25 q)</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600" dirty="0">
                          <a:solidFill>
                            <a:srgbClr val="1F2937"/>
                          </a:solidFill>
                          <a:latin typeface="Calibri" pitchFamily="34" charset="0"/>
                          <a:ea typeface="Calibri" pitchFamily="34" charset="-122"/>
                          <a:cs typeface="Calibri" pitchFamily="34" charset="-120"/>
                        </a:rPr>
                        <a:t>1.29 GB</a:t>
                      </a:r>
                      <a:endParaRPr lang="en-US" sz="1600" dirty="0">
                        <a:latin typeface="Calibri" charset="0"/>
                        <a:ea typeface="Calibri" charset="0"/>
                        <a:cs typeface="Calibri" charset="0"/>
                      </a:endParaRPr>
                    </a:p>
                  </a:txBody>
                  <a:tcPr marL="76200" marR="76200" marT="50800" marB="50800">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7" name="Results note"/>
          <p:cNvSpPr txBox="1"/>
          <p:nvPr/>
        </p:nvSpPr>
        <p:spPr>
          <a:xfrm>
            <a:off x="777240" y="4343400"/>
            <a:ext cx="6309360" cy="1188720"/>
          </a:xfrm>
          <a:prstGeom prst="rect">
            <a:avLst/>
          </a:prstGeom>
          <a:noFill/>
          <a:ln/>
        </p:spPr>
        <p:txBody>
          <a:bodyPr wrap="square" lIns="0" tIns="0" rIns="0" bIns="0" rtlCol="0" anchor="t"/>
          <a:lstStyle/>
          <a:p>
            <a:pPr indent="0" marL="0">
              <a:buNone/>
            </a:pPr>
            <a:r>
              <a:rPr lang="en-US" sz="1400" dirty="0">
                <a:solidFill>
                  <a:srgbClr val="4B5563"/>
                </a:solidFill>
              </a:rPr>
              <a:t>Mixed is not yet proven better: 25 questions, the same ones used to choose the layers. Next: separate test questions.</a:t>
            </a:r>
            <a:endParaRPr lang="en-US" sz="1400" dirty="0"/>
          </a:p>
        </p:txBody>
      </p:sp>
      <p:sp>
        <p:nvSpPr>
          <p:cNvPr id="8" name="Feedback card"/>
          <p:cNvSpPr/>
          <p:nvPr/>
        </p:nvSpPr>
        <p:spPr>
          <a:xfrm>
            <a:off x="7498080" y="1554480"/>
            <a:ext cx="4114800" cy="4526280"/>
          </a:xfrm>
          <a:prstGeom prst="roundRect">
            <a:avLst>
              <a:gd name="adj" fmla="val 1778"/>
            </a:avLst>
          </a:prstGeom>
          <a:solidFill>
            <a:srgbClr val="F3F5F8"/>
          </a:solidFill>
          <a:ln w="9525">
            <a:solidFill>
              <a:srgbClr val="D5DAE1"/>
            </a:solidFill>
            <a:prstDash val="solid"/>
          </a:ln>
        </p:spPr>
      </p:sp>
      <p:sp>
        <p:nvSpPr>
          <p:cNvPr id="9" name="Feedback heading"/>
          <p:cNvSpPr txBox="1"/>
          <p:nvPr/>
        </p:nvSpPr>
        <p:spPr>
          <a:xfrm>
            <a:off x="7726680" y="1691640"/>
            <a:ext cx="3657600" cy="411480"/>
          </a:xfrm>
          <a:prstGeom prst="rect">
            <a:avLst/>
          </a:prstGeom>
          <a:noFill/>
          <a:ln/>
        </p:spPr>
        <p:txBody>
          <a:bodyPr wrap="square" lIns="0" tIns="0" rIns="0" bIns="0" rtlCol="0" anchor="ctr"/>
          <a:lstStyle/>
          <a:p>
            <a:pPr indent="0" marL="0">
              <a:buNone/>
            </a:pPr>
            <a:r>
              <a:rPr lang="en-US" sz="1700" b="1" dirty="0">
                <a:solidFill>
                  <a:srgbClr val="14213D"/>
                </a:solidFill>
              </a:rPr>
              <a:t>User feedback on prototype</a:t>
            </a:r>
            <a:endParaRPr lang="en-US" sz="1700" dirty="0"/>
          </a:p>
        </p:txBody>
      </p:sp>
      <p:sp>
        <p:nvSpPr>
          <p:cNvPr id="10" name="Feedback placeholder box"/>
          <p:cNvSpPr/>
          <p:nvPr/>
        </p:nvSpPr>
        <p:spPr>
          <a:xfrm>
            <a:off x="7726680" y="2103120"/>
            <a:ext cx="3657600" cy="1737360"/>
          </a:xfrm>
          <a:prstGeom prst="roundRect">
            <a:avLst>
              <a:gd name="adj" fmla="val 3158"/>
            </a:avLst>
          </a:prstGeom>
          <a:solidFill>
            <a:srgbClr val="FBEFE6"/>
          </a:solidFill>
          <a:ln w="9525">
            <a:solidFill>
              <a:srgbClr val="E8C9AE"/>
            </a:solidFill>
            <a:prstDash val="solid"/>
          </a:ln>
        </p:spPr>
      </p:sp>
      <p:sp>
        <p:nvSpPr>
          <p:cNvPr id="11" name="Feedback placeholder"/>
          <p:cNvSpPr txBox="1"/>
          <p:nvPr/>
        </p:nvSpPr>
        <p:spPr>
          <a:xfrm>
            <a:off x="7863840" y="2194560"/>
            <a:ext cx="3383280" cy="1554480"/>
          </a:xfrm>
          <a:prstGeom prst="rect">
            <a:avLst/>
          </a:prstGeom>
          <a:noFill/>
          <a:ln/>
        </p:spPr>
        <p:txBody>
          <a:bodyPr wrap="square" lIns="0" tIns="0" rIns="0" bIns="0" rtlCol="0" anchor="t"/>
          <a:lstStyle/>
          <a:p>
            <a:pPr indent="0" marL="0">
              <a:buNone/>
            </a:pPr>
            <a:r>
              <a:rPr lang="en-US" sz="1500" dirty="0">
                <a:solidFill>
                  <a:srgbClr val="7A4310"/>
                </a:solidFill>
              </a:rPr>
              <a:t>Add real feedback: who tried the prototype, which task, where they struggled, and what you changed. Do not invent it.</a:t>
            </a:r>
            <a:endParaRPr lang="en-US" sz="1500" dirty="0"/>
          </a:p>
        </p:txBody>
      </p:sp>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ubtitle"/>
          <p:cNvSpPr txBox="1"/>
          <p:nvPr/>
        </p:nvSpPr>
        <p:spPr>
          <a:xfrm>
            <a:off x="548640" y="1170432"/>
            <a:ext cx="11064240" cy="411480"/>
          </a:xfrm>
          <a:prstGeom prst="rect">
            <a:avLst/>
          </a:prstGeom>
          <a:noFill/>
          <a:ln/>
        </p:spPr>
        <p:txBody>
          <a:bodyPr wrap="square" lIns="0" tIns="0" rIns="0" bIns="0" rtlCol="0" anchor="ctr"/>
          <a:lstStyle/>
          <a:p>
            <a:pPr indent="0" marL="0">
              <a:buNone/>
            </a:pPr>
            <a:r>
              <a:rPr lang="en-US" sz="2000" b="1" dirty="0">
                <a:solidFill>
                  <a:schemeClr val="accent1"/>
                </a:solidFill>
              </a:rPr>
              <a:t>Commercialization and sustainability of the solution</a:t>
            </a:r>
            <a:endParaRPr lang="en-US" sz="2000" dirty="0"/>
          </a:p>
        </p:txBody>
      </p:sp>
      <p:sp>
        <p:nvSpPr>
          <p:cNvPr id="3" name="Customer persona card"/>
          <p:cNvSpPr/>
          <p:nvPr/>
        </p:nvSpPr>
        <p:spPr>
          <a:xfrm>
            <a:off x="548640" y="1737360"/>
            <a:ext cx="5440680" cy="2103120"/>
          </a:xfrm>
          <a:prstGeom prst="roundRect">
            <a:avLst>
              <a:gd name="adj" fmla="val 3478"/>
            </a:avLst>
          </a:prstGeom>
          <a:solidFill>
            <a:srgbClr val="F3F5F8"/>
          </a:solidFill>
          <a:ln w="9525">
            <a:solidFill>
              <a:srgbClr val="D5DAE1"/>
            </a:solidFill>
            <a:prstDash val="solid"/>
          </a:ln>
        </p:spPr>
      </p:sp>
      <p:sp>
        <p:nvSpPr>
          <p:cNvPr id="4" name="Customer persona heading"/>
          <p:cNvSpPr txBox="1"/>
          <p:nvPr/>
        </p:nvSpPr>
        <p:spPr>
          <a:xfrm>
            <a:off x="777240" y="1874520"/>
            <a:ext cx="4983480" cy="411480"/>
          </a:xfrm>
          <a:prstGeom prst="rect">
            <a:avLst/>
          </a:prstGeom>
          <a:noFill/>
          <a:ln/>
        </p:spPr>
        <p:txBody>
          <a:bodyPr wrap="square" lIns="0" tIns="0" rIns="0" bIns="0" rtlCol="0" anchor="ctr"/>
          <a:lstStyle/>
          <a:p>
            <a:pPr indent="0" marL="0">
              <a:buNone/>
            </a:pPr>
            <a:r>
              <a:rPr lang="en-US" sz="1700" b="1" dirty="0">
                <a:solidFill>
                  <a:srgbClr val="14213D"/>
                </a:solidFill>
              </a:rPr>
              <a:t>Customer persona</a:t>
            </a:r>
            <a:endParaRPr lang="en-US" sz="1700" dirty="0"/>
          </a:p>
        </p:txBody>
      </p:sp>
      <p:sp>
        <p:nvSpPr>
          <p:cNvPr id="5" name="Customer persona body"/>
          <p:cNvSpPr txBox="1"/>
          <p:nvPr/>
        </p:nvSpPr>
        <p:spPr>
          <a:xfrm>
            <a:off x="777240" y="2331720"/>
            <a:ext cx="4983480" cy="1417320"/>
          </a:xfrm>
          <a:prstGeom prst="rect">
            <a:avLst/>
          </a:prstGeom>
          <a:noFill/>
          <a:ln/>
        </p:spPr>
        <p:txBody>
          <a:bodyPr wrap="square" lIns="0" tIns="0" rIns="0" bIns="0" rtlCol="0" anchor="t"/>
          <a:lstStyle/>
          <a:p>
            <a:pPr marL="190500" indent="-190500">
              <a:spcAft>
                <a:spcPts val="400"/>
              </a:spcAft>
              <a:buSzPct val="100000"/>
              <a:buChar char="•"/>
            </a:pPr>
            <a:r>
              <a:rPr lang="en-US" sz="1500" dirty="0">
                <a:solidFill>
                  <a:schemeClr val="tx1"/>
                </a:solidFill>
              </a:rPr>
              <a:t>Mid-size companies with sensitive data and no data team</a:t>
            </a:r>
            <a:endParaRPr lang="en-US" sz="1500" dirty="0"/>
          </a:p>
          <a:p>
            <a:pPr marL="190500" indent="-190500">
              <a:spcAft>
                <a:spcPts val="400"/>
              </a:spcAft>
              <a:buSzPct val="100000"/>
              <a:buChar char="•"/>
            </a:pPr>
            <a:r>
              <a:rPr lang="en-US" sz="1500" dirty="0">
                <a:solidFill>
                  <a:schemeClr val="tx1"/>
                </a:solidFill>
              </a:rPr>
              <a:t>Users: operations managers, credit and risk officers, compliance staff</a:t>
            </a:r>
            <a:endParaRPr lang="en-US" sz="1500" dirty="0"/>
          </a:p>
          <a:p>
            <a:pPr marL="190500" indent="-190500">
              <a:spcAft>
                <a:spcPts val="400"/>
              </a:spcAft>
              <a:buSzPct val="100000"/>
              <a:buChar char="•"/>
            </a:pPr>
            <a:r>
              <a:rPr lang="en-US" sz="1500" dirty="0">
                <a:solidFill>
                  <a:schemeClr val="tx1"/>
                </a:solidFill>
              </a:rPr>
              <a:t>They can’t write SQL and have no BI team to ask</a:t>
            </a:r>
            <a:endParaRPr lang="en-US" sz="1500" dirty="0"/>
          </a:p>
        </p:txBody>
      </p:sp>
      <p:sp>
        <p:nvSpPr>
          <p:cNvPr id="6" name="Market size card"/>
          <p:cNvSpPr/>
          <p:nvPr/>
        </p:nvSpPr>
        <p:spPr>
          <a:xfrm>
            <a:off x="6172200" y="1737360"/>
            <a:ext cx="5440680" cy="2103120"/>
          </a:xfrm>
          <a:prstGeom prst="roundRect">
            <a:avLst>
              <a:gd name="adj" fmla="val 3478"/>
            </a:avLst>
          </a:prstGeom>
          <a:solidFill>
            <a:srgbClr val="F3F5F8"/>
          </a:solidFill>
          <a:ln w="9525">
            <a:solidFill>
              <a:srgbClr val="D5DAE1"/>
            </a:solidFill>
            <a:prstDash val="solid"/>
          </a:ln>
        </p:spPr>
      </p:sp>
      <p:sp>
        <p:nvSpPr>
          <p:cNvPr id="7" name="Market size heading"/>
          <p:cNvSpPr txBox="1"/>
          <p:nvPr/>
        </p:nvSpPr>
        <p:spPr>
          <a:xfrm>
            <a:off x="6400800" y="1874520"/>
            <a:ext cx="4983480" cy="411480"/>
          </a:xfrm>
          <a:prstGeom prst="rect">
            <a:avLst/>
          </a:prstGeom>
          <a:noFill/>
          <a:ln/>
        </p:spPr>
        <p:txBody>
          <a:bodyPr wrap="square" lIns="0" tIns="0" rIns="0" bIns="0" rtlCol="0" anchor="ctr"/>
          <a:lstStyle/>
          <a:p>
            <a:pPr indent="0" marL="0">
              <a:buNone/>
            </a:pPr>
            <a:r>
              <a:rPr lang="en-US" sz="1700" b="1" dirty="0">
                <a:solidFill>
                  <a:srgbClr val="14213D"/>
                </a:solidFill>
              </a:rPr>
              <a:t>Market size</a:t>
            </a:r>
            <a:endParaRPr lang="en-US" sz="1700" dirty="0"/>
          </a:p>
        </p:txBody>
      </p:sp>
      <p:sp>
        <p:nvSpPr>
          <p:cNvPr id="8" name="Market size body"/>
          <p:cNvSpPr txBox="1"/>
          <p:nvPr/>
        </p:nvSpPr>
        <p:spPr>
          <a:xfrm>
            <a:off x="6400800" y="2331720"/>
            <a:ext cx="4983480" cy="1417320"/>
          </a:xfrm>
          <a:prstGeom prst="rect">
            <a:avLst/>
          </a:prstGeom>
          <a:noFill/>
          <a:ln/>
        </p:spPr>
        <p:txBody>
          <a:bodyPr wrap="square" lIns="0" tIns="0" rIns="0" bIns="0" rtlCol="0" anchor="t"/>
          <a:lstStyle/>
          <a:p>
            <a:pPr marL="190500" indent="-190500">
              <a:spcAft>
                <a:spcPts val="400"/>
              </a:spcAft>
              <a:buSzPct val="100000"/>
              <a:buChar char="•"/>
            </a:pPr>
            <a:r>
              <a:rPr lang="en-US" sz="1500" dirty="0">
                <a:solidFill>
                  <a:schemeClr val="tx1"/>
                </a:solidFill>
              </a:rPr>
              <a:t>Sri Lanka first: 32 licensed finance companies and 4 microfinance companies (CBSL), plus the smaller of 29 insurers</a:t>
            </a:r>
            <a:endParaRPr lang="en-US" sz="1500" dirty="0"/>
          </a:p>
          <a:p>
            <a:pPr marL="190500" indent="-190500">
              <a:spcAft>
                <a:spcPts val="400"/>
              </a:spcAft>
              <a:buSzPct val="100000"/>
              <a:buChar char="•"/>
            </a:pPr>
            <a:r>
              <a:rPr lang="en-US" sz="1500" dirty="0">
                <a:solidFill>
                  <a:schemeClr val="tx1"/>
                </a:solidFill>
              </a:rPr>
              <a:t>Then the same segment across South Asia</a:t>
            </a:r>
            <a:endParaRPr lang="en-US" sz="1500" dirty="0"/>
          </a:p>
        </p:txBody>
      </p:sp>
      <p:sp>
        <p:nvSpPr>
          <p:cNvPr id="9" name="What is unique in our solution card"/>
          <p:cNvSpPr/>
          <p:nvPr/>
        </p:nvSpPr>
        <p:spPr>
          <a:xfrm>
            <a:off x="548640" y="3977640"/>
            <a:ext cx="5440680" cy="2103120"/>
          </a:xfrm>
          <a:prstGeom prst="roundRect">
            <a:avLst>
              <a:gd name="adj" fmla="val 3478"/>
            </a:avLst>
          </a:prstGeom>
          <a:solidFill>
            <a:srgbClr val="F3F5F8"/>
          </a:solidFill>
          <a:ln w="9525">
            <a:solidFill>
              <a:srgbClr val="D5DAE1"/>
            </a:solidFill>
            <a:prstDash val="solid"/>
          </a:ln>
        </p:spPr>
      </p:sp>
      <p:sp>
        <p:nvSpPr>
          <p:cNvPr id="10" name="What is unique in our solution heading"/>
          <p:cNvSpPr txBox="1"/>
          <p:nvPr/>
        </p:nvSpPr>
        <p:spPr>
          <a:xfrm>
            <a:off x="777240" y="4114800"/>
            <a:ext cx="4983480" cy="411480"/>
          </a:xfrm>
          <a:prstGeom prst="rect">
            <a:avLst/>
          </a:prstGeom>
          <a:noFill/>
          <a:ln/>
        </p:spPr>
        <p:txBody>
          <a:bodyPr wrap="square" lIns="0" tIns="0" rIns="0" bIns="0" rtlCol="0" anchor="ctr"/>
          <a:lstStyle/>
          <a:p>
            <a:pPr indent="0" marL="0">
              <a:buNone/>
            </a:pPr>
            <a:r>
              <a:rPr lang="en-US" sz="1700" b="1" dirty="0">
                <a:solidFill>
                  <a:srgbClr val="14213D"/>
                </a:solidFill>
              </a:rPr>
              <a:t>What is unique in our solution</a:t>
            </a:r>
            <a:endParaRPr lang="en-US" sz="1700" dirty="0"/>
          </a:p>
        </p:txBody>
      </p:sp>
      <p:sp>
        <p:nvSpPr>
          <p:cNvPr id="11" name="What is unique in our solution body"/>
          <p:cNvSpPr txBox="1"/>
          <p:nvPr/>
        </p:nvSpPr>
        <p:spPr>
          <a:xfrm>
            <a:off x="777240" y="4572000"/>
            <a:ext cx="4983480" cy="1417320"/>
          </a:xfrm>
          <a:prstGeom prst="rect">
            <a:avLst/>
          </a:prstGeom>
          <a:noFill/>
          <a:ln/>
        </p:spPr>
        <p:txBody>
          <a:bodyPr wrap="square" lIns="0" tIns="0" rIns="0" bIns="0" rtlCol="0" anchor="t"/>
          <a:lstStyle/>
          <a:p>
            <a:pPr marL="190500" indent="-190500">
              <a:spcAft>
                <a:spcPts val="400"/>
              </a:spcAft>
              <a:buSzPct val="100000"/>
              <a:buChar char="•"/>
            </a:pPr>
            <a:r>
              <a:rPr lang="en-US" sz="1500" dirty="0">
                <a:solidFill>
                  <a:schemeClr val="tx1"/>
                </a:solidFill>
              </a:rPr>
              <a:t>Runs fully on the company’s own hardware: no data goes to an AI vendor</a:t>
            </a:r>
            <a:endParaRPr lang="en-US" sz="1500" dirty="0"/>
          </a:p>
          <a:p>
            <a:pPr marL="190500" indent="-190500">
              <a:spcAft>
                <a:spcPts val="400"/>
              </a:spcAft>
              <a:buSzPct val="100000"/>
              <a:buChar char="•"/>
            </a:pPr>
            <a:r>
              <a:rPr lang="en-US" sz="1500" dirty="0">
                <a:solidFill>
                  <a:schemeClr val="tx1"/>
                </a:solidFill>
              </a:rPr>
              <a:t>One mid-range GPU instead of a data team or cloud contract</a:t>
            </a:r>
            <a:endParaRPr lang="en-US" sz="1500" dirty="0"/>
          </a:p>
          <a:p>
            <a:pPr marL="190500" indent="-190500">
              <a:spcAft>
                <a:spcPts val="400"/>
              </a:spcAft>
              <a:buSzPct val="100000"/>
              <a:buChar char="•"/>
            </a:pPr>
            <a:r>
              <a:rPr lang="en-US" sz="1500" dirty="0">
                <a:solidFill>
                  <a:schemeClr val="tx1"/>
                </a:solidFill>
              </a:rPr>
              <a:t>Every answer shows its SQL and steps, so it can be checked</a:t>
            </a:r>
            <a:endParaRPr lang="en-US" sz="1500" dirty="0"/>
          </a:p>
        </p:txBody>
      </p:sp>
      <p:sp>
        <p:nvSpPr>
          <p:cNvPr id="12" name="How will the cost be recovered? card"/>
          <p:cNvSpPr/>
          <p:nvPr/>
        </p:nvSpPr>
        <p:spPr>
          <a:xfrm>
            <a:off x="6172200" y="3977640"/>
            <a:ext cx="5440680" cy="2103120"/>
          </a:xfrm>
          <a:prstGeom prst="roundRect">
            <a:avLst>
              <a:gd name="adj" fmla="val 3478"/>
            </a:avLst>
          </a:prstGeom>
          <a:solidFill>
            <a:srgbClr val="F3F5F8"/>
          </a:solidFill>
          <a:ln w="9525">
            <a:solidFill>
              <a:srgbClr val="D5DAE1"/>
            </a:solidFill>
            <a:prstDash val="solid"/>
          </a:ln>
        </p:spPr>
      </p:sp>
      <p:sp>
        <p:nvSpPr>
          <p:cNvPr id="13" name="How will the cost be recovered? heading"/>
          <p:cNvSpPr txBox="1"/>
          <p:nvPr/>
        </p:nvSpPr>
        <p:spPr>
          <a:xfrm>
            <a:off x="6400800" y="4114800"/>
            <a:ext cx="4983480" cy="411480"/>
          </a:xfrm>
          <a:prstGeom prst="rect">
            <a:avLst/>
          </a:prstGeom>
          <a:noFill/>
          <a:ln/>
        </p:spPr>
        <p:txBody>
          <a:bodyPr wrap="square" lIns="0" tIns="0" rIns="0" bIns="0" rtlCol="0" anchor="ctr"/>
          <a:lstStyle/>
          <a:p>
            <a:pPr indent="0" marL="0">
              <a:buNone/>
            </a:pPr>
            <a:r>
              <a:rPr lang="en-US" sz="1700" b="1" dirty="0">
                <a:solidFill>
                  <a:srgbClr val="14213D"/>
                </a:solidFill>
              </a:rPr>
              <a:t>How will the cost be recovered?</a:t>
            </a:r>
            <a:endParaRPr lang="en-US" sz="1700" dirty="0"/>
          </a:p>
        </p:txBody>
      </p:sp>
      <p:sp>
        <p:nvSpPr>
          <p:cNvPr id="14" name="How will the cost be recovered? body"/>
          <p:cNvSpPr txBox="1"/>
          <p:nvPr/>
        </p:nvSpPr>
        <p:spPr>
          <a:xfrm>
            <a:off x="6400800" y="4572000"/>
            <a:ext cx="4983480" cy="1417320"/>
          </a:xfrm>
          <a:prstGeom prst="rect">
            <a:avLst/>
          </a:prstGeom>
          <a:noFill/>
          <a:ln/>
        </p:spPr>
        <p:txBody>
          <a:bodyPr wrap="square" lIns="0" tIns="0" rIns="0" bIns="0" rtlCol="0" anchor="t"/>
          <a:lstStyle/>
          <a:p>
            <a:pPr marL="190500" indent="-190500">
              <a:spcAft>
                <a:spcPts val="400"/>
              </a:spcAft>
              <a:buSzPct val="100000"/>
              <a:buChar char="•"/>
            </a:pPr>
            <a:r>
              <a:rPr lang="en-US" sz="1500" dirty="0">
                <a:solidFill>
                  <a:schemeClr val="tx1"/>
                </a:solidFill>
              </a:rPr>
              <a:t>Licensed on-premise appliance plus a yearly support contract</a:t>
            </a:r>
            <a:endParaRPr lang="en-US" sz="1500" dirty="0"/>
          </a:p>
          <a:p>
            <a:pPr marL="190500" indent="-190500">
              <a:spcAft>
                <a:spcPts val="400"/>
              </a:spcAft>
              <a:buSzPct val="100000"/>
              <a:buChar char="•"/>
            </a:pPr>
            <a:r>
              <a:rPr lang="en-US" sz="1500" dirty="0">
                <a:solidFill>
                  <a:schemeClr val="tx1"/>
                </a:solidFill>
              </a:rPr>
              <a:t>Privately hosted tier for smaller firms</a:t>
            </a:r>
            <a:endParaRPr lang="en-US" sz="1500" dirty="0"/>
          </a:p>
          <a:p>
            <a:pPr marL="190500" indent="-190500">
              <a:spcAft>
                <a:spcPts val="400"/>
              </a:spcAft>
              <a:buSzPct val="100000"/>
              <a:buChar char="•"/>
            </a:pPr>
            <a:r>
              <a:rPr lang="en-US" sz="1500" dirty="0">
                <a:solidFill>
                  <a:schemeClr val="tx1"/>
                </a:solidFill>
              </a:rPr>
              <a:t>Open-weight models: no per-question fees</a:t>
            </a:r>
            <a:endParaRPr lang="en-US" sz="1500" dirty="0"/>
          </a:p>
        </p:txBody>
      </p:sp>
      <p:sp>
        <p:nvSpPr>
          <p:cNvPr id="25" name="Slide Number Placeholder 0"/>
          <p:cNvSpPr>
            <a:spLocks noGrp="1"/>
          </p:cNvSpPr>
          <p:nvPr>
            <p:ph type="sldNum" sz="quarter" idx="4294967295"/>
          </p:nvPr>
        </p:nvSpPr>
        <p:spPr>
          <a:xfrm>
            <a:off x="11247120" y="6309360"/>
            <a:ext cx="640080" cy="36576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J26-DS-336 PP1">
  <a:themeElements>
    <a:clrScheme name="J26-DS-336 PP1">
      <a:dk1>
        <a:srgbClr val="1F2937"/>
      </a:dk1>
      <a:lt1>
        <a:srgbClr val="FFFFFF"/>
      </a:lt1>
      <a:dk2>
        <a:srgbClr val="14213D"/>
      </a:dk2>
      <a:lt2>
        <a:srgbClr val="EEF1F5"/>
      </a:lt2>
      <a:accent1>
        <a:srgbClr val="A65A16"/>
      </a:accent1>
      <a:accent2>
        <a:srgbClr val="14213D"/>
      </a:accent2>
      <a:accent3>
        <a:srgbClr val="3D5A80"/>
      </a:accent3>
      <a:accent4>
        <a:srgbClr val="E8A25B"/>
      </a:accent4>
      <a:accent5>
        <a:srgbClr val="6B7280"/>
      </a:accent5>
      <a:accent6>
        <a:srgbClr val="2E7D5B"/>
      </a:accent6>
      <a:hlink>
        <a:srgbClr val="A65A16"/>
      </a:hlink>
      <a:folHlink>
        <a:srgbClr val="7A4310"/>
      </a:folHlink>
    </a:clrScheme>
    <a:fontScheme name="J26-DS-336 PP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J26-DS-336 PP1 Presentation</dc:title>
  <dc:subject>PptxGenJS Presentation</dc:subject>
  <dc:creator>J26-DS-336</dc:creator>
  <cp:lastModifiedBy>J26-DS-336</cp:lastModifiedBy>
  <cp:revision>1</cp:revision>
  <dcterms:created xsi:type="dcterms:W3CDTF">2026-10-21T15:42:29Z</dcterms:created>
  <dcterms:modified xsi:type="dcterms:W3CDTF">2026-10-21T15:42:29Z</dcterms:modified>
</cp:coreProperties>
</file>